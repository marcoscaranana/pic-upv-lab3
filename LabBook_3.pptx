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handoutMasterIdLst>
    <p:handoutMasterId r:id="rId17"/>
  </p:handoutMasterIdLst>
  <p:sldIdLst>
    <p:sldId id="256" r:id="rId2"/>
    <p:sldId id="289" r:id="rId3"/>
    <p:sldId id="290" r:id="rId4"/>
    <p:sldId id="297" r:id="rId5"/>
    <p:sldId id="298" r:id="rId6"/>
    <p:sldId id="299" r:id="rId7"/>
    <p:sldId id="295" r:id="rId8"/>
    <p:sldId id="296" r:id="rId9"/>
    <p:sldId id="300" r:id="rId10"/>
    <p:sldId id="301" r:id="rId11"/>
    <p:sldId id="293" r:id="rId12"/>
    <p:sldId id="302" r:id="rId13"/>
    <p:sldId id="303" r:id="rId14"/>
    <p:sldId id="288" r:id="rId1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111" d="100"/>
          <a:sy n="111" d="100"/>
        </p:scale>
        <p:origin x="1134" y="9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23/03/2026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23/03/2026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svg"/><Relationship Id="rId7"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github.com/cccanvas-upv/pic-upv-lab3.gi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image" Target="../media/image27.png"/><Relationship Id="rId16"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20.png"/><Relationship Id="rId7"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4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58.png"/></Relationships>
</file>

<file path=ppt/slides/_rels/slide1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1010533"/>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p>
          <a:p>
            <a:pPr marL="12700">
              <a:lnSpc>
                <a:spcPct val="100000"/>
              </a:lnSpc>
              <a:spcBef>
                <a:spcPts val="100"/>
              </a:spcBef>
            </a:pP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a:latin typeface="Arial"/>
                <a:cs typeface="Arial"/>
              </a:rPr>
              <a:t>: Marcos Carañana Castillo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s-ES" dirty="0">
                <a:hlinkClick r:id="rId4" tooltip="https://github.com/cccanvas-upv/pic-upv-lab3.git"/>
              </a:rPr>
              <a:t>https://github.com/cccanvas-upv/pic-upv-lab3.git</a:t>
            </a:r>
            <a:endParaRPr lang="en-US" kern="0" dirty="0">
              <a:solidFill>
                <a:sysClr val="windowText" lastClr="000000"/>
              </a:solidFill>
              <a:sym typeface="Wingdings" pitchFamily="2" charset="2"/>
            </a:endParaRP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5"/>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6"/>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8"/>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Provide one example of implementation for each one of the configurations studied during MZI lecture:</a:t>
                </a:r>
              </a:p>
              <a:p>
                <a:pPr marL="914400" lvl="1" indent="-457200">
                  <a:buAutoNum type="arabicPeriod"/>
                </a:pPr>
                <a:r>
                  <a:rPr lang="en-US" sz="2000" dirty="0"/>
                  <a:t>Balanced configuration</a:t>
                </a:r>
              </a:p>
              <a:p>
                <a:pPr lvl="1"/>
                <a:r>
                  <a:rPr lang="en-US" sz="2000" dirty="0"/>
                  <a:t>2. Unbalanced configuration:</a:t>
                </a:r>
              </a:p>
              <a:p>
                <a:pPr lvl="1"/>
                <a:r>
                  <a:rPr lang="en-US" sz="2000" dirty="0"/>
                  <a:t>  2.1.   Phase difference </a:t>
                </a:r>
              </a:p>
              <a:p>
                <a:pPr lvl="1"/>
                <a:r>
                  <a:rPr lang="en-US" sz="2000" dirty="0"/>
                  <a:t>  2.2.   Delay imbalance</a:t>
                </a:r>
              </a:p>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≠0</m:t>
                    </m:r>
                  </m:oMath>
                </a14:m>
                <a:endParaRPr lang="es-ES" sz="2000" dirty="0"/>
              </a:p>
              <a:p>
                <a:r>
                  <a:rPr lang="en-US" sz="2000" dirty="0"/>
                  <a:t> </a:t>
                </a:r>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alpha, gamma, transfer function plots, etc.) and comment on the obtained results (in terms of FSR, amplitude, losses, etc.).</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B2C984FB-F215-3AA2-D904-49E4FA275170}"/>
              </a:ext>
            </a:extLst>
          </p:cNvPr>
          <p:cNvSpPr>
            <a:spLocks noGrp="1"/>
          </p:cNvSpPr>
          <p:nvPr>
            <p:ph type="body" idx="1"/>
          </p:nvPr>
        </p:nvSpPr>
        <p:spPr>
          <a:xfrm>
            <a:off x="578498" y="609600"/>
            <a:ext cx="10972800" cy="276999"/>
          </a:xfrm>
        </p:spPr>
        <p:txBody>
          <a:bodyPr/>
          <a:lstStyle/>
          <a:p>
            <a:r>
              <a:rPr lang="es-ES" b="1" dirty="0"/>
              <a:t>1. </a:t>
            </a:r>
            <a:r>
              <a:rPr lang="es-ES" b="1" dirty="0" err="1"/>
              <a:t>Balanced</a:t>
            </a:r>
            <a:r>
              <a:rPr lang="es-ES" b="1" dirty="0"/>
              <a:t> </a:t>
            </a:r>
            <a:r>
              <a:rPr lang="es-ES" b="1" dirty="0" err="1"/>
              <a:t>Configuration</a:t>
            </a:r>
            <a:r>
              <a:rPr lang="es-ES" b="1" dirty="0"/>
              <a:t> </a:t>
            </a:r>
          </a:p>
        </p:txBody>
      </p:sp>
      <p:sp>
        <p:nvSpPr>
          <p:cNvPr id="4" name="Marcador de pie de página 3">
            <a:extLst>
              <a:ext uri="{FF2B5EF4-FFF2-40B4-BE49-F238E27FC236}">
                <a16:creationId xmlns:a16="http://schemas.microsoft.com/office/drawing/2014/main" id="{A4F58BD4-00BA-C3A4-29A6-1BE573BFE3A9}"/>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2E5046CA-B890-D0D5-2160-66FE1DF059BA}"/>
              </a:ext>
            </a:extLst>
          </p:cNvPr>
          <p:cNvSpPr>
            <a:spLocks noGrp="1"/>
          </p:cNvSpPr>
          <p:nvPr>
            <p:ph type="sldNum" sz="quarter" idx="7"/>
          </p:nvPr>
        </p:nvSpPr>
        <p:spPr/>
        <p:txBody>
          <a:bodyPr/>
          <a:lstStyle/>
          <a:p>
            <a:fld id="{B6F15528-21DE-4FAA-801E-634DDDAF4B2B}" type="slidenum">
              <a:rPr lang="es-ES" smtClean="0"/>
              <a:t>4</a:t>
            </a:fld>
            <a:endParaRPr lang="es-E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D0332012-1F68-684C-30BF-D73AF07CCF27}"/>
                  </a:ext>
                </a:extLst>
              </p:cNvPr>
              <p:cNvSpPr txBox="1"/>
              <p:nvPr/>
            </p:nvSpPr>
            <p:spPr>
              <a:xfrm>
                <a:off x="762000" y="1143000"/>
                <a:ext cx="2057400" cy="381515"/>
              </a:xfrm>
              <a:prstGeom prst="rect">
                <a:avLst/>
              </a:prstGeom>
              <a:noFill/>
            </p:spPr>
            <p:txBody>
              <a:bodyPr wrap="square" rtlCol="0">
                <a:spAutoFit/>
              </a:bodyPr>
              <a:lstStyle/>
              <a:p>
                <a14:m>
                  <m:oMath xmlns:m="http://schemas.openxmlformats.org/officeDocument/2006/math">
                    <m:r>
                      <m:rPr>
                        <m:sty m:val="p"/>
                      </m:rPr>
                      <a:rPr lang="es-ES" i="1" smtClean="0">
                        <a:latin typeface="Cambria Math" panose="02040503050406030204" pitchFamily="18" charset="0"/>
                      </a:rPr>
                      <m:t>α</m:t>
                    </m:r>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oMath>
                </a14:m>
                <a:r>
                  <a:rPr lang="en-US" kern="0" dirty="0">
                    <a:solidFill>
                      <a:sysClr val="windowText" lastClr="000000"/>
                    </a:solidFill>
                  </a:rPr>
                  <a:t> and </a:t>
                </a:r>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γ</m:t>
                        </m:r>
                      </m:e>
                      <m:sub>
                        <m:r>
                          <a:rPr lang="es-ES" b="0" i="1" smtClean="0">
                            <a:latin typeface="Cambria Math" panose="02040503050406030204" pitchFamily="18" charset="0"/>
                          </a:rPr>
                          <m:t>𝑎</m:t>
                        </m:r>
                        <m:r>
                          <a:rPr lang="es-ES" b="0" i="1" smtClean="0">
                            <a:latin typeface="Cambria Math" panose="02040503050406030204" pitchFamily="18" charset="0"/>
                          </a:rPr>
                          <m:t>, </m:t>
                        </m:r>
                        <m:r>
                          <a:rPr lang="es-ES" b="0" i="1"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oMath>
                </a14:m>
                <a:endParaRPr lang="es-ES" dirty="0"/>
              </a:p>
            </p:txBody>
          </p:sp>
        </mc:Choice>
        <mc:Fallback xmlns="">
          <p:sp>
            <p:nvSpPr>
              <p:cNvPr id="9" name="CuadroTexto 8">
                <a:extLst>
                  <a:ext uri="{FF2B5EF4-FFF2-40B4-BE49-F238E27FC236}">
                    <a16:creationId xmlns:a16="http://schemas.microsoft.com/office/drawing/2014/main" id="{D0332012-1F68-684C-30BF-D73AF07CCF27}"/>
                  </a:ext>
                </a:extLst>
              </p:cNvPr>
              <p:cNvSpPr txBox="1">
                <a:spLocks noRot="1" noChangeAspect="1" noMove="1" noResize="1" noEditPoints="1" noAdjustHandles="1" noChangeArrowheads="1" noChangeShapeType="1" noTextEdit="1"/>
              </p:cNvSpPr>
              <p:nvPr/>
            </p:nvSpPr>
            <p:spPr>
              <a:xfrm>
                <a:off x="762000" y="1143000"/>
                <a:ext cx="2057400" cy="381515"/>
              </a:xfrm>
              <a:prstGeom prst="rect">
                <a:avLst/>
              </a:prstGeom>
              <a:blipFill>
                <a:blip r:embed="rId2"/>
                <a:stretch>
                  <a:fillRect t="-8065" b="-2258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184C8ECA-C2E1-C035-2BFB-7AFC53FBEE9F}"/>
                  </a:ext>
                </a:extLst>
              </p:cNvPr>
              <p:cNvSpPr txBox="1"/>
              <p:nvPr/>
            </p:nvSpPr>
            <p:spPr>
              <a:xfrm>
                <a:off x="2796073" y="1120014"/>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k</m:t>
                        </m:r>
                      </m:e>
                      <m:sub>
                        <m:r>
                          <a:rPr lang="es-ES" b="0" i="1" smtClean="0">
                            <a:latin typeface="Cambria Math" panose="02040503050406030204" pitchFamily="18" charset="0"/>
                          </a:rPr>
                          <m:t>𝑎</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0" smtClean="0">
                        <a:latin typeface="Cambria Math" panose="02040503050406030204" pitchFamily="18" charset="0"/>
                        <a:ea typeface="Cambria Math" panose="02040503050406030204" pitchFamily="18" charset="0"/>
                      </a:rPr>
                      <m:t>.5</m:t>
                    </m:r>
                  </m:oMath>
                </a14:m>
                <a:r>
                  <a:rPr lang="en-US" kern="0" dirty="0">
                    <a:solidFill>
                      <a:sysClr val="windowText" lastClr="000000"/>
                    </a:solidFill>
                  </a:rPr>
                  <a:t> and </a:t>
                </a:r>
                <a14:m>
                  <m:oMath xmlns:m="http://schemas.openxmlformats.org/officeDocument/2006/math">
                    <m:sSub>
                      <m:sSubPr>
                        <m:ctrlPr>
                          <a:rPr lang="es-ES" b="0" i="1" dirty="0" smtClean="0">
                            <a:latin typeface="Cambria Math" panose="02040503050406030204" pitchFamily="18" charset="0"/>
                          </a:rPr>
                        </m:ctrlPr>
                      </m:sSubPr>
                      <m:e>
                        <m:r>
                          <m:rPr>
                            <m:sty m:val="p"/>
                          </m:rPr>
                          <a:rPr lang="es-ES" i="1" dirty="0">
                            <a:latin typeface="Cambria Math" panose="02040503050406030204" pitchFamily="18" charset="0"/>
                          </a:rPr>
                          <m:t>k</m:t>
                        </m:r>
                      </m:e>
                      <m:sub>
                        <m:r>
                          <a:rPr lang="es-ES" b="0" i="1" dirty="0"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.5 </m:t>
                    </m:r>
                  </m:oMath>
                </a14:m>
                <a:endParaRPr lang="es-ES" dirty="0"/>
              </a:p>
            </p:txBody>
          </p:sp>
        </mc:Choice>
        <mc:Fallback xmlns="">
          <p:sp>
            <p:nvSpPr>
              <p:cNvPr id="10" name="CuadroTexto 9">
                <a:extLst>
                  <a:ext uri="{FF2B5EF4-FFF2-40B4-BE49-F238E27FC236}">
                    <a16:creationId xmlns:a16="http://schemas.microsoft.com/office/drawing/2014/main" id="{184C8ECA-C2E1-C035-2BFB-7AFC53FBEE9F}"/>
                  </a:ext>
                </a:extLst>
              </p:cNvPr>
              <p:cNvSpPr txBox="1">
                <a:spLocks noRot="1" noChangeAspect="1" noMove="1" noResize="1" noEditPoints="1" noAdjustHandles="1" noChangeArrowheads="1" noChangeShapeType="1" noTextEdit="1"/>
              </p:cNvSpPr>
              <p:nvPr/>
            </p:nvSpPr>
            <p:spPr>
              <a:xfrm>
                <a:off x="2796073" y="1120014"/>
                <a:ext cx="2743200" cy="369332"/>
              </a:xfrm>
              <a:prstGeom prst="rect">
                <a:avLst/>
              </a:prstGeom>
              <a:blipFill>
                <a:blip r:embed="rId3"/>
                <a:stretch>
                  <a:fillRect t="-10000" b="-26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F073FAEA-FE9D-CD3F-4B5A-7D305511B1CF}"/>
                  </a:ext>
                </a:extLst>
              </p:cNvPr>
              <p:cNvSpPr txBox="1"/>
              <p:nvPr/>
            </p:nvSpPr>
            <p:spPr>
              <a:xfrm>
                <a:off x="4693298" y="1116455"/>
                <a:ext cx="2743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r>
                            <a:rPr lang="es-ES" b="0" i="1" smtClean="0">
                              <a:latin typeface="Cambria Math" panose="02040503050406030204" pitchFamily="18" charset="0"/>
                            </a:rPr>
                            <m:t>_</m:t>
                          </m:r>
                          <m:r>
                            <a:rPr lang="es-ES" b="0" i="1" smtClean="0">
                              <a:latin typeface="Cambria Math" panose="02040503050406030204" pitchFamily="18" charset="0"/>
                            </a:rPr>
                            <m:t>𝑒𝑓𝑓</m:t>
                          </m:r>
                        </m:e>
                        <m:sub>
                          <m:r>
                            <a:rPr lang="es-ES" b="0" i="1" smtClean="0">
                              <a:latin typeface="Cambria Math" panose="02040503050406030204" pitchFamily="18" charset="0"/>
                            </a:rPr>
                            <m:t>𝑢</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𝑛</m:t>
                          </m:r>
                          <m:r>
                            <a:rPr lang="es-ES" i="1">
                              <a:latin typeface="Cambria Math" panose="02040503050406030204" pitchFamily="18" charset="0"/>
                            </a:rPr>
                            <m:t>_</m:t>
                          </m:r>
                          <m:r>
                            <a:rPr lang="es-ES" i="1">
                              <a:latin typeface="Cambria Math" panose="02040503050406030204" pitchFamily="18" charset="0"/>
                            </a:rPr>
                            <m:t>𝑒𝑓𝑓</m:t>
                          </m:r>
                        </m:e>
                        <m:sub>
                          <m:r>
                            <a:rPr lang="es-ES" b="0" i="1" smtClean="0">
                              <a:latin typeface="Cambria Math" panose="02040503050406030204" pitchFamily="18" charset="0"/>
                            </a:rPr>
                            <m:t>𝑙</m:t>
                          </m:r>
                        </m:sub>
                      </m:sSub>
                    </m:oMath>
                  </m:oMathPara>
                </a14:m>
                <a:endParaRPr lang="es-ES" dirty="0"/>
              </a:p>
            </p:txBody>
          </p:sp>
        </mc:Choice>
        <mc:Fallback xmlns="">
          <p:sp>
            <p:nvSpPr>
              <p:cNvPr id="13" name="CuadroTexto 12">
                <a:extLst>
                  <a:ext uri="{FF2B5EF4-FFF2-40B4-BE49-F238E27FC236}">
                    <a16:creationId xmlns:a16="http://schemas.microsoft.com/office/drawing/2014/main" id="{F073FAEA-FE9D-CD3F-4B5A-7D305511B1CF}"/>
                  </a:ext>
                </a:extLst>
              </p:cNvPr>
              <p:cNvSpPr txBox="1">
                <a:spLocks noRot="1" noChangeAspect="1" noMove="1" noResize="1" noEditPoints="1" noAdjustHandles="1" noChangeArrowheads="1" noChangeShapeType="1" noTextEdit="1"/>
              </p:cNvSpPr>
              <p:nvPr/>
            </p:nvSpPr>
            <p:spPr>
              <a:xfrm>
                <a:off x="4693298" y="1116455"/>
                <a:ext cx="2743200" cy="369332"/>
              </a:xfrm>
              <a:prstGeom prst="rect">
                <a:avLst/>
              </a:prstGeom>
              <a:blipFill>
                <a:blip r:embed="rId5"/>
                <a:stretch>
                  <a:fillRect b="-13115"/>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41338C13-EFD1-0375-7B66-02D3B504BBB6}"/>
              </a:ext>
            </a:extLst>
          </p:cNvPr>
          <p:cNvSpPr txBox="1"/>
          <p:nvPr/>
        </p:nvSpPr>
        <p:spPr>
          <a:xfrm>
            <a:off x="6934200" y="1796467"/>
            <a:ext cx="4450702" cy="1754326"/>
          </a:xfrm>
          <a:prstGeom prst="rect">
            <a:avLst/>
          </a:prstGeom>
          <a:noFill/>
        </p:spPr>
        <p:txBody>
          <a:bodyPr wrap="square" rtlCol="0">
            <a:spAutoFit/>
          </a:bodyPr>
          <a:lstStyle/>
          <a:p>
            <a:endParaRPr lang="es-ES" dirty="0"/>
          </a:p>
          <a:p>
            <a:r>
              <a:rPr lang="es-ES" dirty="0"/>
              <a:t>Al medir lo mismo los brazos, la luz de cualquier longitud de onda interferirá de la misma manera, en este caso toda la potencia por el puerto </a:t>
            </a:r>
            <a:r>
              <a:rPr lang="es-ES" dirty="0" err="1"/>
              <a:t>cross</a:t>
            </a:r>
            <a:r>
              <a:rPr lang="es-ES" dirty="0"/>
              <a:t>. </a:t>
            </a:r>
          </a:p>
          <a:p>
            <a:endParaRPr lang="es-ES" dirty="0"/>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40F99B18-7BB9-4B02-F7C3-A027C978B1FF}"/>
                  </a:ext>
                </a:extLst>
              </p:cNvPr>
              <p:cNvSpPr txBox="1"/>
              <p:nvPr/>
            </p:nvSpPr>
            <p:spPr>
              <a:xfrm>
                <a:off x="7696200" y="1127400"/>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𝑢</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𝑙</m:t>
                        </m:r>
                        <m:r>
                          <a:rPr lang="es-ES" b="0" i="1" smtClean="0">
                            <a:latin typeface="Cambria Math" panose="02040503050406030204" pitchFamily="18" charset="0"/>
                          </a:rPr>
                          <m:t> </m:t>
                        </m:r>
                      </m:sub>
                    </m:sSub>
                  </m:oMath>
                </a14:m>
                <a:r>
                  <a:rPr lang="es-ES" dirty="0"/>
                  <a:t> </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5 </m:t>
                    </m:r>
                    <m:r>
                      <a:rPr lang="es-ES" b="0" i="1" smtClean="0">
                        <a:latin typeface="Cambria Math" panose="02040503050406030204" pitchFamily="18" charset="0"/>
                      </a:rPr>
                      <m:t>𝑢𝑚</m:t>
                    </m:r>
                  </m:oMath>
                </a14:m>
                <a:endParaRPr lang="es-ES" dirty="0"/>
              </a:p>
            </p:txBody>
          </p:sp>
        </mc:Choice>
        <mc:Fallback xmlns="">
          <p:sp>
            <p:nvSpPr>
              <p:cNvPr id="15" name="CuadroTexto 14">
                <a:extLst>
                  <a:ext uri="{FF2B5EF4-FFF2-40B4-BE49-F238E27FC236}">
                    <a16:creationId xmlns:a16="http://schemas.microsoft.com/office/drawing/2014/main" id="{40F99B18-7BB9-4B02-F7C3-A027C978B1FF}"/>
                  </a:ext>
                </a:extLst>
              </p:cNvPr>
              <p:cNvSpPr txBox="1">
                <a:spLocks noRot="1" noChangeAspect="1" noMove="1" noResize="1" noEditPoints="1" noAdjustHandles="1" noChangeArrowheads="1" noChangeShapeType="1" noTextEdit="1"/>
              </p:cNvSpPr>
              <p:nvPr/>
            </p:nvSpPr>
            <p:spPr>
              <a:xfrm>
                <a:off x="7696200" y="1127400"/>
                <a:ext cx="2743200" cy="369332"/>
              </a:xfrm>
              <a:prstGeom prst="rect">
                <a:avLst/>
              </a:prstGeom>
              <a:blipFill>
                <a:blip r:embed="rId6"/>
                <a:stretch>
                  <a:fillRect/>
                </a:stretch>
              </a:blipFill>
            </p:spPr>
            <p:txBody>
              <a:bodyPr/>
              <a:lstStyle/>
              <a:p>
                <a:r>
                  <a:rPr lang="es-ES">
                    <a:noFill/>
                  </a:rPr>
                  <a:t> </a:t>
                </a:r>
              </a:p>
            </p:txBody>
          </p:sp>
        </mc:Fallback>
      </mc:AlternateContent>
      <p:pic>
        <p:nvPicPr>
          <p:cNvPr id="6" name="Imagen 5">
            <a:extLst>
              <a:ext uri="{FF2B5EF4-FFF2-40B4-BE49-F238E27FC236}">
                <a16:creationId xmlns:a16="http://schemas.microsoft.com/office/drawing/2014/main" id="{C50D611E-AB6E-C400-6343-A0782F04E603}"/>
              </a:ext>
            </a:extLst>
          </p:cNvPr>
          <p:cNvPicPr>
            <a:picLocks noChangeAspect="1"/>
          </p:cNvPicPr>
          <p:nvPr/>
        </p:nvPicPr>
        <p:blipFill>
          <a:blip r:embed="rId7"/>
          <a:stretch>
            <a:fillRect/>
          </a:stretch>
        </p:blipFill>
        <p:spPr>
          <a:xfrm>
            <a:off x="914400" y="1780916"/>
            <a:ext cx="5400675" cy="4333875"/>
          </a:xfrm>
          <a:prstGeom prst="rect">
            <a:avLst/>
          </a:prstGeom>
        </p:spPr>
      </p:pic>
    </p:spTree>
    <p:extLst>
      <p:ext uri="{BB962C8B-B14F-4D97-AF65-F5344CB8AC3E}">
        <p14:creationId xmlns:p14="http://schemas.microsoft.com/office/powerpoint/2010/main" val="2250734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3016C526-99AC-1D9C-F94E-241AF3CE1A2A}"/>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4C1BEF3A-7CAB-E86B-8750-775023D01B30}"/>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6" name="Marcador de texto 2">
            <a:extLst>
              <a:ext uri="{FF2B5EF4-FFF2-40B4-BE49-F238E27FC236}">
                <a16:creationId xmlns:a16="http://schemas.microsoft.com/office/drawing/2014/main" id="{D2090687-9822-FC99-92A2-508135B08165}"/>
              </a:ext>
            </a:extLst>
          </p:cNvPr>
          <p:cNvSpPr>
            <a:spLocks noGrp="1"/>
          </p:cNvSpPr>
          <p:nvPr>
            <p:ph type="title"/>
          </p:nvPr>
        </p:nvSpPr>
        <p:spPr>
          <a:xfrm>
            <a:off x="457200" y="306507"/>
            <a:ext cx="10991850" cy="307975"/>
          </a:xfrm>
        </p:spPr>
        <p:txBody>
          <a:bodyPr/>
          <a:lstStyle/>
          <a:p>
            <a:r>
              <a:rPr lang="es-ES" dirty="0"/>
              <a:t>2</a:t>
            </a:r>
            <a:r>
              <a:rPr lang="es-ES" b="1" dirty="0"/>
              <a:t>. </a:t>
            </a:r>
            <a:r>
              <a:rPr lang="es-ES" b="1" dirty="0" err="1"/>
              <a:t>Unbalanced</a:t>
            </a:r>
            <a:r>
              <a:rPr lang="es-ES" b="1" dirty="0"/>
              <a:t> </a:t>
            </a:r>
            <a:r>
              <a:rPr lang="es-ES" b="1" dirty="0" err="1"/>
              <a:t>Configuration</a:t>
            </a:r>
            <a:r>
              <a:rPr lang="es-ES" b="1" dirty="0"/>
              <a:t> </a:t>
            </a:r>
          </a:p>
        </p:txBody>
      </p:sp>
      <p:sp>
        <p:nvSpPr>
          <p:cNvPr id="7" name="Marcador de texto 2">
            <a:extLst>
              <a:ext uri="{FF2B5EF4-FFF2-40B4-BE49-F238E27FC236}">
                <a16:creationId xmlns:a16="http://schemas.microsoft.com/office/drawing/2014/main" id="{16088DB7-E8E4-7DDA-5317-AE00F42179AA}"/>
              </a:ext>
            </a:extLst>
          </p:cNvPr>
          <p:cNvSpPr txBox="1">
            <a:spLocks/>
          </p:cNvSpPr>
          <p:nvPr/>
        </p:nvSpPr>
        <p:spPr>
          <a:xfrm>
            <a:off x="802593" y="916252"/>
            <a:ext cx="2376973" cy="307975"/>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dirty="0"/>
              <a:t>2.1 </a:t>
            </a:r>
            <a:r>
              <a:rPr lang="en-US" b="0" dirty="0"/>
              <a:t>Phase difference </a:t>
            </a:r>
            <a:endParaRPr lang="es-ES" b="0" kern="0" dirty="0"/>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A35EBB3-9CC1-DE04-8490-4CF95EC418B9}"/>
                  </a:ext>
                </a:extLst>
              </p:cNvPr>
              <p:cNvSpPr txBox="1"/>
              <p:nvPr/>
            </p:nvSpPr>
            <p:spPr>
              <a:xfrm>
                <a:off x="802593" y="1280546"/>
                <a:ext cx="2057400" cy="381515"/>
              </a:xfrm>
              <a:prstGeom prst="rect">
                <a:avLst/>
              </a:prstGeom>
              <a:noFill/>
            </p:spPr>
            <p:txBody>
              <a:bodyPr wrap="square" rtlCol="0">
                <a:spAutoFit/>
              </a:bodyPr>
              <a:lstStyle/>
              <a:p>
                <a14:m>
                  <m:oMath xmlns:m="http://schemas.openxmlformats.org/officeDocument/2006/math">
                    <m:r>
                      <m:rPr>
                        <m:sty m:val="p"/>
                      </m:rPr>
                      <a:rPr lang="es-ES" i="1" smtClean="0">
                        <a:latin typeface="Cambria Math" panose="02040503050406030204" pitchFamily="18" charset="0"/>
                      </a:rPr>
                      <m:t>α</m:t>
                    </m:r>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oMath>
                </a14:m>
                <a:r>
                  <a:rPr lang="en-US" kern="0" dirty="0">
                    <a:solidFill>
                      <a:sysClr val="windowText" lastClr="000000"/>
                    </a:solidFill>
                  </a:rPr>
                  <a:t> and </a:t>
                </a:r>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γ</m:t>
                        </m:r>
                      </m:e>
                      <m:sub>
                        <m:r>
                          <a:rPr lang="es-ES" b="0" i="1" smtClean="0">
                            <a:latin typeface="Cambria Math" panose="02040503050406030204" pitchFamily="18" charset="0"/>
                          </a:rPr>
                          <m:t>𝑎</m:t>
                        </m:r>
                        <m:r>
                          <a:rPr lang="es-ES" b="0" i="1" smtClean="0">
                            <a:latin typeface="Cambria Math" panose="02040503050406030204" pitchFamily="18" charset="0"/>
                          </a:rPr>
                          <m:t>, </m:t>
                        </m:r>
                        <m:r>
                          <a:rPr lang="es-ES" b="0" i="1"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oMath>
                </a14:m>
                <a:endParaRPr lang="es-ES" dirty="0"/>
              </a:p>
            </p:txBody>
          </p:sp>
        </mc:Choice>
        <mc:Fallback xmlns="">
          <p:sp>
            <p:nvSpPr>
              <p:cNvPr id="10" name="CuadroTexto 9">
                <a:extLst>
                  <a:ext uri="{FF2B5EF4-FFF2-40B4-BE49-F238E27FC236}">
                    <a16:creationId xmlns:a16="http://schemas.microsoft.com/office/drawing/2014/main" id="{3A35EBB3-9CC1-DE04-8490-4CF95EC418B9}"/>
                  </a:ext>
                </a:extLst>
              </p:cNvPr>
              <p:cNvSpPr txBox="1">
                <a:spLocks noRot="1" noChangeAspect="1" noMove="1" noResize="1" noEditPoints="1" noAdjustHandles="1" noChangeArrowheads="1" noChangeShapeType="1" noTextEdit="1"/>
              </p:cNvSpPr>
              <p:nvPr/>
            </p:nvSpPr>
            <p:spPr>
              <a:xfrm>
                <a:off x="802593" y="1280546"/>
                <a:ext cx="2057400" cy="381515"/>
              </a:xfrm>
              <a:prstGeom prst="rect">
                <a:avLst/>
              </a:prstGeom>
              <a:blipFill>
                <a:blip r:embed="rId2"/>
                <a:stretch>
                  <a:fillRect t="-6349" b="-2222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A45C4B5E-6B2E-8066-42FA-11E63755FF08}"/>
                  </a:ext>
                </a:extLst>
              </p:cNvPr>
              <p:cNvSpPr txBox="1"/>
              <p:nvPr/>
            </p:nvSpPr>
            <p:spPr>
              <a:xfrm>
                <a:off x="2859993" y="1276909"/>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k</m:t>
                        </m:r>
                      </m:e>
                      <m:sub>
                        <m:r>
                          <a:rPr lang="es-ES" b="0" i="1" smtClean="0">
                            <a:latin typeface="Cambria Math" panose="02040503050406030204" pitchFamily="18" charset="0"/>
                          </a:rPr>
                          <m:t>𝑎</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0" smtClean="0">
                        <a:latin typeface="Cambria Math" panose="02040503050406030204" pitchFamily="18" charset="0"/>
                        <a:ea typeface="Cambria Math" panose="02040503050406030204" pitchFamily="18" charset="0"/>
                      </a:rPr>
                      <m:t>.5</m:t>
                    </m:r>
                  </m:oMath>
                </a14:m>
                <a:r>
                  <a:rPr lang="en-US" kern="0" dirty="0">
                    <a:solidFill>
                      <a:sysClr val="windowText" lastClr="000000"/>
                    </a:solidFill>
                  </a:rPr>
                  <a:t> and </a:t>
                </a:r>
                <a14:m>
                  <m:oMath xmlns:m="http://schemas.openxmlformats.org/officeDocument/2006/math">
                    <m:sSub>
                      <m:sSubPr>
                        <m:ctrlPr>
                          <a:rPr lang="es-ES" b="0" i="1" dirty="0" smtClean="0">
                            <a:latin typeface="Cambria Math" panose="02040503050406030204" pitchFamily="18" charset="0"/>
                          </a:rPr>
                        </m:ctrlPr>
                      </m:sSubPr>
                      <m:e>
                        <m:r>
                          <m:rPr>
                            <m:sty m:val="p"/>
                          </m:rPr>
                          <a:rPr lang="es-ES" i="1" dirty="0">
                            <a:latin typeface="Cambria Math" panose="02040503050406030204" pitchFamily="18" charset="0"/>
                          </a:rPr>
                          <m:t>k</m:t>
                        </m:r>
                      </m:e>
                      <m:sub>
                        <m:r>
                          <a:rPr lang="es-ES" b="0" i="1" dirty="0"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.5 </m:t>
                    </m:r>
                  </m:oMath>
                </a14:m>
                <a:endParaRPr lang="es-ES" dirty="0"/>
              </a:p>
            </p:txBody>
          </p:sp>
        </mc:Choice>
        <mc:Fallback xmlns="">
          <p:sp>
            <p:nvSpPr>
              <p:cNvPr id="11" name="CuadroTexto 10">
                <a:extLst>
                  <a:ext uri="{FF2B5EF4-FFF2-40B4-BE49-F238E27FC236}">
                    <a16:creationId xmlns:a16="http://schemas.microsoft.com/office/drawing/2014/main" id="{A45C4B5E-6B2E-8066-42FA-11E63755FF08}"/>
                  </a:ext>
                </a:extLst>
              </p:cNvPr>
              <p:cNvSpPr txBox="1">
                <a:spLocks noRot="1" noChangeAspect="1" noMove="1" noResize="1" noEditPoints="1" noAdjustHandles="1" noChangeArrowheads="1" noChangeShapeType="1" noTextEdit="1"/>
              </p:cNvSpPr>
              <p:nvPr/>
            </p:nvSpPr>
            <p:spPr>
              <a:xfrm>
                <a:off x="2859993" y="1276909"/>
                <a:ext cx="2743200" cy="369332"/>
              </a:xfrm>
              <a:prstGeom prst="rect">
                <a:avLst/>
              </a:prstGeom>
              <a:blipFill>
                <a:blip r:embed="rId3"/>
                <a:stretch>
                  <a:fillRect t="-8197"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0580FF97-68F4-7137-112E-24281DDE1CAE}"/>
                  </a:ext>
                </a:extLst>
              </p:cNvPr>
              <p:cNvSpPr txBox="1"/>
              <p:nvPr/>
            </p:nvSpPr>
            <p:spPr>
              <a:xfrm>
                <a:off x="345393" y="1664150"/>
                <a:ext cx="2743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r>
                            <a:rPr lang="es-ES" b="0" i="1" smtClean="0">
                              <a:latin typeface="Cambria Math" panose="02040503050406030204" pitchFamily="18" charset="0"/>
                            </a:rPr>
                            <m:t>_</m:t>
                          </m:r>
                          <m:r>
                            <a:rPr lang="es-ES" b="0" i="1" smtClean="0">
                              <a:latin typeface="Cambria Math" panose="02040503050406030204" pitchFamily="18" charset="0"/>
                            </a:rPr>
                            <m:t>𝑒𝑓𝑓</m:t>
                          </m:r>
                        </m:e>
                        <m:sub>
                          <m:r>
                            <a:rPr lang="es-ES" b="0" i="1" smtClean="0">
                              <a:latin typeface="Cambria Math" panose="02040503050406030204" pitchFamily="18" charset="0"/>
                            </a:rPr>
                            <m:t>𝑢</m:t>
                          </m:r>
                          <m:r>
                            <a:rPr lang="es-ES" b="0" i="1" smtClean="0">
                              <a:latin typeface="Cambria Math" panose="02040503050406030204" pitchFamily="18" charset="0"/>
                            </a:rPr>
                            <m:t> </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𝑛</m:t>
                          </m:r>
                          <m:r>
                            <a:rPr lang="es-ES" i="1">
                              <a:latin typeface="Cambria Math" panose="02040503050406030204" pitchFamily="18" charset="0"/>
                            </a:rPr>
                            <m:t>_</m:t>
                          </m:r>
                          <m:r>
                            <a:rPr lang="es-ES" i="1">
                              <a:latin typeface="Cambria Math" panose="02040503050406030204" pitchFamily="18" charset="0"/>
                            </a:rPr>
                            <m:t>𝑒𝑓𝑓</m:t>
                          </m:r>
                        </m:e>
                        <m:sub>
                          <m:r>
                            <a:rPr lang="es-ES" b="0" i="1" smtClean="0">
                              <a:latin typeface="Cambria Math" panose="02040503050406030204" pitchFamily="18" charset="0"/>
                            </a:rPr>
                            <m:t>𝑙</m:t>
                          </m:r>
                        </m:sub>
                      </m:sSub>
                    </m:oMath>
                  </m:oMathPara>
                </a14:m>
                <a:endParaRPr lang="es-ES" dirty="0"/>
              </a:p>
            </p:txBody>
          </p:sp>
        </mc:Choice>
        <mc:Fallback xmlns="">
          <p:sp>
            <p:nvSpPr>
              <p:cNvPr id="12" name="CuadroTexto 11">
                <a:extLst>
                  <a:ext uri="{FF2B5EF4-FFF2-40B4-BE49-F238E27FC236}">
                    <a16:creationId xmlns:a16="http://schemas.microsoft.com/office/drawing/2014/main" id="{0580FF97-68F4-7137-112E-24281DDE1CAE}"/>
                  </a:ext>
                </a:extLst>
              </p:cNvPr>
              <p:cNvSpPr txBox="1">
                <a:spLocks noRot="1" noChangeAspect="1" noMove="1" noResize="1" noEditPoints="1" noAdjustHandles="1" noChangeArrowheads="1" noChangeShapeType="1" noTextEdit="1"/>
              </p:cNvSpPr>
              <p:nvPr/>
            </p:nvSpPr>
            <p:spPr>
              <a:xfrm>
                <a:off x="345393" y="1664150"/>
                <a:ext cx="2743200" cy="369332"/>
              </a:xfrm>
              <a:prstGeom prst="rect">
                <a:avLst/>
              </a:prstGeom>
              <a:blipFill>
                <a:blip r:embed="rId4"/>
                <a:stretch>
                  <a:fillRect b="-1147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EEC3311-F425-9585-3F48-2285E6C4675B}"/>
                  </a:ext>
                </a:extLst>
              </p:cNvPr>
              <p:cNvSpPr txBox="1"/>
              <p:nvPr/>
            </p:nvSpPr>
            <p:spPr>
              <a:xfrm>
                <a:off x="2859993" y="1660513"/>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𝑢</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𝑙</m:t>
                        </m:r>
                        <m:r>
                          <a:rPr lang="es-ES" b="0" i="1" smtClean="0">
                            <a:latin typeface="Cambria Math" panose="02040503050406030204" pitchFamily="18" charset="0"/>
                          </a:rPr>
                          <m:t> </m:t>
                        </m:r>
                      </m:sub>
                    </m:sSub>
                  </m:oMath>
                </a14:m>
                <a:r>
                  <a:rPr lang="es-ES" dirty="0"/>
                  <a:t> </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25 </m:t>
                    </m:r>
                    <m:r>
                      <a:rPr lang="es-ES" b="0" i="1" smtClean="0">
                        <a:latin typeface="Cambria Math" panose="02040503050406030204" pitchFamily="18" charset="0"/>
                      </a:rPr>
                      <m:t>𝑢𝑚</m:t>
                    </m:r>
                  </m:oMath>
                </a14:m>
                <a:endParaRPr lang="es-ES" dirty="0"/>
              </a:p>
            </p:txBody>
          </p:sp>
        </mc:Choice>
        <mc:Fallback xmlns="">
          <p:sp>
            <p:nvSpPr>
              <p:cNvPr id="13" name="CuadroTexto 12">
                <a:extLst>
                  <a:ext uri="{FF2B5EF4-FFF2-40B4-BE49-F238E27FC236}">
                    <a16:creationId xmlns:a16="http://schemas.microsoft.com/office/drawing/2014/main" id="{DEEC3311-F425-9585-3F48-2285E6C4675B}"/>
                  </a:ext>
                </a:extLst>
              </p:cNvPr>
              <p:cNvSpPr txBox="1">
                <a:spLocks noRot="1" noChangeAspect="1" noMove="1" noResize="1" noEditPoints="1" noAdjustHandles="1" noChangeArrowheads="1" noChangeShapeType="1" noTextEdit="1"/>
              </p:cNvSpPr>
              <p:nvPr/>
            </p:nvSpPr>
            <p:spPr>
              <a:xfrm>
                <a:off x="2859993" y="1660513"/>
                <a:ext cx="2743200" cy="369332"/>
              </a:xfrm>
              <a:prstGeom prst="rect">
                <a:avLst/>
              </a:prstGeom>
              <a:blipFill>
                <a:blip r:embed="rId5"/>
                <a:stretch>
                  <a:fillRect/>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BF276932-CE61-638D-5FC1-42B4E50E846C}"/>
              </a:ext>
            </a:extLst>
          </p:cNvPr>
          <p:cNvSpPr txBox="1"/>
          <p:nvPr/>
        </p:nvSpPr>
        <p:spPr>
          <a:xfrm>
            <a:off x="721306" y="1759613"/>
            <a:ext cx="6248400" cy="1754326"/>
          </a:xfrm>
          <a:prstGeom prst="rect">
            <a:avLst/>
          </a:prstGeom>
          <a:noFill/>
        </p:spPr>
        <p:txBody>
          <a:bodyPr wrap="square" rtlCol="0">
            <a:spAutoFit/>
          </a:bodyPr>
          <a:lstStyle/>
          <a:p>
            <a:endParaRPr lang="es-ES" dirty="0"/>
          </a:p>
          <a:p>
            <a:r>
              <a:rPr lang="es-ES" dirty="0"/>
              <a:t>En este caso, al tener los brazos, distinto índice efectivo, al variar la longitud de onda de la fuente, si habrá dependencia de la interferencia con la longitud de onda. Esto se debe a que la luz se propagará de distinta manera en cada brazo.  </a:t>
            </a:r>
          </a:p>
          <a:p>
            <a:endParaRPr lang="es-ES" dirty="0"/>
          </a:p>
        </p:txBody>
      </p:sp>
      <p:sp>
        <p:nvSpPr>
          <p:cNvPr id="15" name="Marcador de texto 2">
            <a:extLst>
              <a:ext uri="{FF2B5EF4-FFF2-40B4-BE49-F238E27FC236}">
                <a16:creationId xmlns:a16="http://schemas.microsoft.com/office/drawing/2014/main" id="{42D586FB-3E25-450A-5DAC-ABA3688454B4}"/>
              </a:ext>
            </a:extLst>
          </p:cNvPr>
          <p:cNvSpPr txBox="1">
            <a:spLocks/>
          </p:cNvSpPr>
          <p:nvPr/>
        </p:nvSpPr>
        <p:spPr>
          <a:xfrm>
            <a:off x="802593" y="3580927"/>
            <a:ext cx="5159668" cy="307975"/>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dirty="0"/>
              <a:t>2.2 </a:t>
            </a:r>
            <a:r>
              <a:rPr lang="en-US" b="0" dirty="0"/>
              <a:t>Delay imbalance (Si)</a:t>
            </a:r>
            <a:endParaRPr lang="es-ES" b="0" kern="0" dirty="0"/>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028E9246-53CF-7BD3-8B41-63CFFDB49D90}"/>
                  </a:ext>
                </a:extLst>
              </p:cNvPr>
              <p:cNvSpPr txBox="1"/>
              <p:nvPr/>
            </p:nvSpPr>
            <p:spPr>
              <a:xfrm>
                <a:off x="766404" y="3962092"/>
                <a:ext cx="2057400" cy="381515"/>
              </a:xfrm>
              <a:prstGeom prst="rect">
                <a:avLst/>
              </a:prstGeom>
              <a:noFill/>
            </p:spPr>
            <p:txBody>
              <a:bodyPr wrap="square" rtlCol="0">
                <a:spAutoFit/>
              </a:bodyPr>
              <a:lstStyle/>
              <a:p>
                <a14:m>
                  <m:oMath xmlns:m="http://schemas.openxmlformats.org/officeDocument/2006/math">
                    <m:r>
                      <m:rPr>
                        <m:sty m:val="p"/>
                      </m:rPr>
                      <a:rPr lang="es-ES" i="1" smtClean="0">
                        <a:latin typeface="Cambria Math" panose="02040503050406030204" pitchFamily="18" charset="0"/>
                      </a:rPr>
                      <m:t>α</m:t>
                    </m:r>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oMath>
                </a14:m>
                <a:r>
                  <a:rPr lang="en-US" kern="0" dirty="0">
                    <a:solidFill>
                      <a:sysClr val="windowText" lastClr="000000"/>
                    </a:solidFill>
                  </a:rPr>
                  <a:t> and </a:t>
                </a:r>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γ</m:t>
                        </m:r>
                      </m:e>
                      <m:sub>
                        <m:r>
                          <a:rPr lang="es-ES" b="0" i="1" smtClean="0">
                            <a:latin typeface="Cambria Math" panose="02040503050406030204" pitchFamily="18" charset="0"/>
                          </a:rPr>
                          <m:t>𝑎</m:t>
                        </m:r>
                        <m:r>
                          <a:rPr lang="es-ES" b="0" i="1" smtClean="0">
                            <a:latin typeface="Cambria Math" panose="02040503050406030204" pitchFamily="18" charset="0"/>
                          </a:rPr>
                          <m:t>, </m:t>
                        </m:r>
                        <m:r>
                          <a:rPr lang="es-ES" b="0" i="1"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oMath>
                </a14:m>
                <a:endParaRPr lang="es-ES" dirty="0"/>
              </a:p>
            </p:txBody>
          </p:sp>
        </mc:Choice>
        <mc:Fallback xmlns="">
          <p:sp>
            <p:nvSpPr>
              <p:cNvPr id="16" name="CuadroTexto 15">
                <a:extLst>
                  <a:ext uri="{FF2B5EF4-FFF2-40B4-BE49-F238E27FC236}">
                    <a16:creationId xmlns:a16="http://schemas.microsoft.com/office/drawing/2014/main" id="{028E9246-53CF-7BD3-8B41-63CFFDB49D90}"/>
                  </a:ext>
                </a:extLst>
              </p:cNvPr>
              <p:cNvSpPr txBox="1">
                <a:spLocks noRot="1" noChangeAspect="1" noMove="1" noResize="1" noEditPoints="1" noAdjustHandles="1" noChangeArrowheads="1" noChangeShapeType="1" noTextEdit="1"/>
              </p:cNvSpPr>
              <p:nvPr/>
            </p:nvSpPr>
            <p:spPr>
              <a:xfrm>
                <a:off x="766404" y="3962092"/>
                <a:ext cx="2057400" cy="381515"/>
              </a:xfrm>
              <a:prstGeom prst="rect">
                <a:avLst/>
              </a:prstGeom>
              <a:blipFill>
                <a:blip r:embed="rId6"/>
                <a:stretch>
                  <a:fillRect t="-7937" b="-2222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4814CE4-85DC-C00A-184A-4E08D7788E31}"/>
                  </a:ext>
                </a:extLst>
              </p:cNvPr>
              <p:cNvSpPr txBox="1"/>
              <p:nvPr/>
            </p:nvSpPr>
            <p:spPr>
              <a:xfrm>
                <a:off x="2823804" y="3962092"/>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k</m:t>
                        </m:r>
                      </m:e>
                      <m:sub>
                        <m:r>
                          <a:rPr lang="es-ES" b="0" i="1" smtClean="0">
                            <a:latin typeface="Cambria Math" panose="02040503050406030204" pitchFamily="18" charset="0"/>
                          </a:rPr>
                          <m:t>𝑎</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0" smtClean="0">
                        <a:latin typeface="Cambria Math" panose="02040503050406030204" pitchFamily="18" charset="0"/>
                        <a:ea typeface="Cambria Math" panose="02040503050406030204" pitchFamily="18" charset="0"/>
                      </a:rPr>
                      <m:t>.5</m:t>
                    </m:r>
                  </m:oMath>
                </a14:m>
                <a:r>
                  <a:rPr lang="en-US" kern="0" dirty="0">
                    <a:solidFill>
                      <a:sysClr val="windowText" lastClr="000000"/>
                    </a:solidFill>
                  </a:rPr>
                  <a:t> and </a:t>
                </a:r>
                <a14:m>
                  <m:oMath xmlns:m="http://schemas.openxmlformats.org/officeDocument/2006/math">
                    <m:sSub>
                      <m:sSubPr>
                        <m:ctrlPr>
                          <a:rPr lang="es-ES" b="0" i="1" dirty="0" smtClean="0">
                            <a:latin typeface="Cambria Math" panose="02040503050406030204" pitchFamily="18" charset="0"/>
                          </a:rPr>
                        </m:ctrlPr>
                      </m:sSubPr>
                      <m:e>
                        <m:r>
                          <m:rPr>
                            <m:sty m:val="p"/>
                          </m:rPr>
                          <a:rPr lang="es-ES" i="1" dirty="0">
                            <a:latin typeface="Cambria Math" panose="02040503050406030204" pitchFamily="18" charset="0"/>
                          </a:rPr>
                          <m:t>k</m:t>
                        </m:r>
                      </m:e>
                      <m:sub>
                        <m:r>
                          <a:rPr lang="es-ES" b="0" i="1" dirty="0"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.5 </m:t>
                    </m:r>
                  </m:oMath>
                </a14:m>
                <a:endParaRPr lang="es-ES" dirty="0"/>
              </a:p>
            </p:txBody>
          </p:sp>
        </mc:Choice>
        <mc:Fallback xmlns="">
          <p:sp>
            <p:nvSpPr>
              <p:cNvPr id="17" name="CuadroTexto 16">
                <a:extLst>
                  <a:ext uri="{FF2B5EF4-FFF2-40B4-BE49-F238E27FC236}">
                    <a16:creationId xmlns:a16="http://schemas.microsoft.com/office/drawing/2014/main" id="{64814CE4-85DC-C00A-184A-4E08D7788E31}"/>
                  </a:ext>
                </a:extLst>
              </p:cNvPr>
              <p:cNvSpPr txBox="1">
                <a:spLocks noRot="1" noChangeAspect="1" noMove="1" noResize="1" noEditPoints="1" noAdjustHandles="1" noChangeArrowheads="1" noChangeShapeType="1" noTextEdit="1"/>
              </p:cNvSpPr>
              <p:nvPr/>
            </p:nvSpPr>
            <p:spPr>
              <a:xfrm>
                <a:off x="2823804" y="3962092"/>
                <a:ext cx="2743200" cy="369332"/>
              </a:xfrm>
              <a:prstGeom prst="rect">
                <a:avLst/>
              </a:prstGeom>
              <a:blipFill>
                <a:blip r:embed="rId7"/>
                <a:stretch>
                  <a:fillRect t="-9836"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671F0947-53A7-9001-976A-9F6DECA187B5}"/>
                  </a:ext>
                </a:extLst>
              </p:cNvPr>
              <p:cNvSpPr txBox="1"/>
              <p:nvPr/>
            </p:nvSpPr>
            <p:spPr>
              <a:xfrm>
                <a:off x="364054" y="4257280"/>
                <a:ext cx="2743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r>
                            <a:rPr lang="es-ES" b="0" i="1" smtClean="0">
                              <a:latin typeface="Cambria Math" panose="02040503050406030204" pitchFamily="18" charset="0"/>
                            </a:rPr>
                            <m:t>_</m:t>
                          </m:r>
                          <m:r>
                            <a:rPr lang="es-ES" b="0" i="1" smtClean="0">
                              <a:latin typeface="Cambria Math" panose="02040503050406030204" pitchFamily="18" charset="0"/>
                            </a:rPr>
                            <m:t>𝑒𝑓𝑓</m:t>
                          </m:r>
                        </m:e>
                        <m:sub>
                          <m:r>
                            <a:rPr lang="es-ES" b="0" i="1" smtClean="0">
                              <a:latin typeface="Cambria Math" panose="02040503050406030204" pitchFamily="18" charset="0"/>
                            </a:rPr>
                            <m:t>𝑢</m:t>
                          </m:r>
                          <m:r>
                            <a:rPr lang="es-ES" b="0" i="1" smtClean="0">
                              <a:latin typeface="Cambria Math" panose="02040503050406030204" pitchFamily="18" charset="0"/>
                            </a:rPr>
                            <m:t> </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𝑛</m:t>
                          </m:r>
                          <m:r>
                            <a:rPr lang="es-ES" i="1">
                              <a:latin typeface="Cambria Math" panose="02040503050406030204" pitchFamily="18" charset="0"/>
                            </a:rPr>
                            <m:t>_</m:t>
                          </m:r>
                          <m:r>
                            <a:rPr lang="es-ES" i="1">
                              <a:latin typeface="Cambria Math" panose="02040503050406030204" pitchFamily="18" charset="0"/>
                            </a:rPr>
                            <m:t>𝑒𝑓𝑓</m:t>
                          </m:r>
                        </m:e>
                        <m:sub>
                          <m:r>
                            <a:rPr lang="es-ES" b="0" i="1" smtClean="0">
                              <a:latin typeface="Cambria Math" panose="02040503050406030204" pitchFamily="18" charset="0"/>
                            </a:rPr>
                            <m:t>𝑙</m:t>
                          </m:r>
                        </m:sub>
                      </m:sSub>
                    </m:oMath>
                  </m:oMathPara>
                </a14:m>
                <a:endParaRPr lang="es-ES" dirty="0"/>
              </a:p>
            </p:txBody>
          </p:sp>
        </mc:Choice>
        <mc:Fallback xmlns="">
          <p:sp>
            <p:nvSpPr>
              <p:cNvPr id="18" name="CuadroTexto 17">
                <a:extLst>
                  <a:ext uri="{FF2B5EF4-FFF2-40B4-BE49-F238E27FC236}">
                    <a16:creationId xmlns:a16="http://schemas.microsoft.com/office/drawing/2014/main" id="{671F0947-53A7-9001-976A-9F6DECA187B5}"/>
                  </a:ext>
                </a:extLst>
              </p:cNvPr>
              <p:cNvSpPr txBox="1">
                <a:spLocks noRot="1" noChangeAspect="1" noMove="1" noResize="1" noEditPoints="1" noAdjustHandles="1" noChangeArrowheads="1" noChangeShapeType="1" noTextEdit="1"/>
              </p:cNvSpPr>
              <p:nvPr/>
            </p:nvSpPr>
            <p:spPr>
              <a:xfrm>
                <a:off x="364054" y="4257280"/>
                <a:ext cx="2743200" cy="369332"/>
              </a:xfrm>
              <a:prstGeom prst="rect">
                <a:avLst/>
              </a:prstGeom>
              <a:blipFill>
                <a:blip r:embed="rId8"/>
                <a:stretch>
                  <a:fillRect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0D5A218E-51CB-7C3E-19F7-F7564D121C45}"/>
                  </a:ext>
                </a:extLst>
              </p:cNvPr>
              <p:cNvSpPr txBox="1"/>
              <p:nvPr/>
            </p:nvSpPr>
            <p:spPr>
              <a:xfrm>
                <a:off x="2823804" y="4268206"/>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𝑢</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 5 </m:t>
                        </m:r>
                        <m:r>
                          <a:rPr lang="es-ES" b="0" i="1" smtClean="0">
                            <a:latin typeface="Cambria Math" panose="02040503050406030204" pitchFamily="18" charset="0"/>
                          </a:rPr>
                          <m:t>𝑎𝑛𝑑</m:t>
                        </m:r>
                        <m:r>
                          <a:rPr lang="es-ES" b="0" i="1" smtClean="0">
                            <a:latin typeface="Cambria Math" panose="02040503050406030204" pitchFamily="18" charset="0"/>
                          </a:rPr>
                          <m:t> </m:t>
                        </m:r>
                        <m:r>
                          <a:rPr lang="es-ES" b="0" i="1" smtClean="0">
                            <a:latin typeface="Cambria Math" panose="02040503050406030204" pitchFamily="18" charset="0"/>
                          </a:rPr>
                          <m:t>𝐿</m:t>
                        </m:r>
                      </m:e>
                      <m:sub>
                        <m:r>
                          <a:rPr lang="es-ES" b="0" i="1" smtClean="0">
                            <a:latin typeface="Cambria Math" panose="02040503050406030204" pitchFamily="18" charset="0"/>
                          </a:rPr>
                          <m:t>𝑙</m:t>
                        </m:r>
                        <m:r>
                          <a:rPr lang="es-ES" b="0" i="1" smtClean="0">
                            <a:latin typeface="Cambria Math" panose="02040503050406030204" pitchFamily="18" charset="0"/>
                          </a:rPr>
                          <m:t> </m:t>
                        </m:r>
                      </m:sub>
                    </m:sSub>
                  </m:oMath>
                </a14:m>
                <a:r>
                  <a:rPr lang="es-ES" dirty="0"/>
                  <a:t> </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25 </m:t>
                    </m:r>
                    <m:r>
                      <a:rPr lang="es-ES" b="0" i="1" smtClean="0">
                        <a:latin typeface="Cambria Math" panose="02040503050406030204" pitchFamily="18" charset="0"/>
                      </a:rPr>
                      <m:t>𝑢𝑚</m:t>
                    </m:r>
                  </m:oMath>
                </a14:m>
                <a:endParaRPr lang="es-ES" dirty="0"/>
              </a:p>
            </p:txBody>
          </p:sp>
        </mc:Choice>
        <mc:Fallback xmlns="">
          <p:sp>
            <p:nvSpPr>
              <p:cNvPr id="19" name="CuadroTexto 18">
                <a:extLst>
                  <a:ext uri="{FF2B5EF4-FFF2-40B4-BE49-F238E27FC236}">
                    <a16:creationId xmlns:a16="http://schemas.microsoft.com/office/drawing/2014/main" id="{0D5A218E-51CB-7C3E-19F7-F7564D121C45}"/>
                  </a:ext>
                </a:extLst>
              </p:cNvPr>
              <p:cNvSpPr txBox="1">
                <a:spLocks noRot="1" noChangeAspect="1" noMove="1" noResize="1" noEditPoints="1" noAdjustHandles="1" noChangeArrowheads="1" noChangeShapeType="1" noTextEdit="1"/>
              </p:cNvSpPr>
              <p:nvPr/>
            </p:nvSpPr>
            <p:spPr>
              <a:xfrm>
                <a:off x="2823804" y="4268206"/>
                <a:ext cx="2743200" cy="369332"/>
              </a:xfrm>
              <a:prstGeom prst="rect">
                <a:avLst/>
              </a:prstGeom>
              <a:blipFill>
                <a:blip r:embed="rId9"/>
                <a:stretch>
                  <a:fillRect/>
                </a:stretch>
              </a:blipFill>
            </p:spPr>
            <p:txBody>
              <a:bodyPr/>
              <a:lstStyle/>
              <a:p>
                <a:r>
                  <a:rPr lang="es-ES">
                    <a:noFill/>
                  </a:rPr>
                  <a:t> </a:t>
                </a:r>
              </a:p>
            </p:txBody>
          </p:sp>
        </mc:Fallback>
      </mc:AlternateContent>
      <p:sp>
        <p:nvSpPr>
          <p:cNvPr id="26" name="CuadroTexto 25">
            <a:extLst>
              <a:ext uri="{FF2B5EF4-FFF2-40B4-BE49-F238E27FC236}">
                <a16:creationId xmlns:a16="http://schemas.microsoft.com/office/drawing/2014/main" id="{FD35968C-F226-C0C8-7E5A-12F19CA801CF}"/>
              </a:ext>
            </a:extLst>
          </p:cNvPr>
          <p:cNvSpPr txBox="1"/>
          <p:nvPr/>
        </p:nvSpPr>
        <p:spPr>
          <a:xfrm>
            <a:off x="766404" y="4466723"/>
            <a:ext cx="6248400" cy="1200329"/>
          </a:xfrm>
          <a:prstGeom prst="rect">
            <a:avLst/>
          </a:prstGeom>
          <a:noFill/>
        </p:spPr>
        <p:txBody>
          <a:bodyPr wrap="square" rtlCol="0">
            <a:spAutoFit/>
          </a:bodyPr>
          <a:lstStyle/>
          <a:p>
            <a:endParaRPr lang="es-ES" dirty="0"/>
          </a:p>
          <a:p>
            <a:r>
              <a:rPr lang="es-ES" dirty="0"/>
              <a:t>Al haber una diferencia de caminos, se introduce un desfase entre brazos haciendo la interferencia dependiente de la longitud de onda. </a:t>
            </a:r>
          </a:p>
        </p:txBody>
      </p:sp>
      <p:pic>
        <p:nvPicPr>
          <p:cNvPr id="3" name="Imagen 2">
            <a:extLst>
              <a:ext uri="{FF2B5EF4-FFF2-40B4-BE49-F238E27FC236}">
                <a16:creationId xmlns:a16="http://schemas.microsoft.com/office/drawing/2014/main" id="{E175B8A3-954A-8A5D-981E-EB0F8F971A35}"/>
              </a:ext>
            </a:extLst>
          </p:cNvPr>
          <p:cNvPicPr>
            <a:picLocks noChangeAspect="1"/>
          </p:cNvPicPr>
          <p:nvPr/>
        </p:nvPicPr>
        <p:blipFill>
          <a:blip r:embed="rId10"/>
          <a:stretch>
            <a:fillRect/>
          </a:stretch>
        </p:blipFill>
        <p:spPr>
          <a:xfrm>
            <a:off x="7459679" y="267399"/>
            <a:ext cx="3850339" cy="3041501"/>
          </a:xfrm>
          <a:prstGeom prst="rect">
            <a:avLst/>
          </a:prstGeom>
        </p:spPr>
      </p:pic>
      <p:pic>
        <p:nvPicPr>
          <p:cNvPr id="9" name="Imagen 8">
            <a:extLst>
              <a:ext uri="{FF2B5EF4-FFF2-40B4-BE49-F238E27FC236}">
                <a16:creationId xmlns:a16="http://schemas.microsoft.com/office/drawing/2014/main" id="{FBD2761D-BF46-59A0-8B3C-5EC7D846860E}"/>
              </a:ext>
            </a:extLst>
          </p:cNvPr>
          <p:cNvPicPr>
            <a:picLocks noChangeAspect="1"/>
          </p:cNvPicPr>
          <p:nvPr/>
        </p:nvPicPr>
        <p:blipFill>
          <a:blip r:embed="rId11"/>
          <a:stretch>
            <a:fillRect/>
          </a:stretch>
        </p:blipFill>
        <p:spPr>
          <a:xfrm>
            <a:off x="7506411" y="3343523"/>
            <a:ext cx="3850339" cy="3089778"/>
          </a:xfrm>
          <a:prstGeom prst="rect">
            <a:avLst/>
          </a:prstGeom>
        </p:spPr>
      </p:pic>
    </p:spTree>
    <p:extLst>
      <p:ext uri="{BB962C8B-B14F-4D97-AF65-F5344CB8AC3E}">
        <p14:creationId xmlns:p14="http://schemas.microsoft.com/office/powerpoint/2010/main" val="2866497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D6661FFC-3CD8-2F5B-03FD-4DD48DCD3F42}"/>
                  </a:ext>
                </a:extLst>
              </p:cNvPr>
              <p:cNvSpPr>
                <a:spLocks noGrp="1"/>
              </p:cNvSpPr>
              <p:nvPr>
                <p:ph type="title"/>
              </p:nvPr>
            </p:nvSpPr>
            <p:spPr>
              <a:xfrm>
                <a:off x="600075" y="374504"/>
                <a:ext cx="10991850" cy="307777"/>
              </a:xfrm>
            </p:spPr>
            <p:txBody>
              <a:bodyPr/>
              <a:lstStyle/>
              <a:p>
                <a:r>
                  <a:rPr lang="es-ES" dirty="0"/>
                  <a:t>3. </a:t>
                </a:r>
                <a14:m>
                  <m:oMath xmlns:m="http://schemas.openxmlformats.org/officeDocument/2006/math">
                    <m:r>
                      <m:rPr>
                        <m:sty m:val="p"/>
                      </m:rPr>
                      <a:rPr lang="es-ES" i="1">
                        <a:latin typeface="Cambria Math" panose="02040503050406030204" pitchFamily="18" charset="0"/>
                      </a:rPr>
                      <m:t>γ</m:t>
                    </m:r>
                    <m:r>
                      <a:rPr lang="es-ES" i="1">
                        <a:latin typeface="Cambria Math" panose="02040503050406030204" pitchFamily="18" charset="0"/>
                        <a:ea typeface="Cambria Math" panose="02040503050406030204" pitchFamily="18" charset="0"/>
                      </a:rPr>
                      <m:t>≠0</m:t>
                    </m:r>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𝒂𝒏𝒅</m:t>
                    </m:r>
                    <m:r>
                      <a:rPr lang="es-ES" b="1" i="1" smtClean="0">
                        <a:latin typeface="Cambria Math" panose="02040503050406030204" pitchFamily="18" charset="0"/>
                        <a:ea typeface="Cambria Math" panose="02040503050406030204" pitchFamily="18" charset="0"/>
                      </a:rPr>
                      <m:t> </m:t>
                    </m:r>
                    <m:r>
                      <m:rPr>
                        <m:sty m:val="p"/>
                      </m:rPr>
                      <a:rPr lang="es-ES" b="0" i="1">
                        <a:latin typeface="Cambria Math" panose="02040503050406030204" pitchFamily="18" charset="0"/>
                      </a:rPr>
                      <m:t>α</m:t>
                    </m:r>
                    <m:r>
                      <a:rPr lang="es-ES" i="1">
                        <a:latin typeface="Cambria Math" panose="02040503050406030204" pitchFamily="18" charset="0"/>
                        <a:ea typeface="Cambria Math" panose="02040503050406030204" pitchFamily="18" charset="0"/>
                      </a:rPr>
                      <m:t>≠0</m:t>
                    </m:r>
                    <m:r>
                      <a:rPr lang="es-ES" b="1" i="0" smtClean="0">
                        <a:latin typeface="Cambria Math" panose="02040503050406030204" pitchFamily="18" charset="0"/>
                        <a:ea typeface="Cambria Math" panose="02040503050406030204" pitchFamily="18" charset="0"/>
                      </a:rPr>
                      <m:t> , </m:t>
                    </m:r>
                  </m:oMath>
                </a14:m>
                <a:r>
                  <a:rPr lang="en-US" dirty="0" err="1">
                    <a:solidFill>
                      <a:sysClr val="windowText" lastClr="000000"/>
                    </a:solidFill>
                  </a:rPr>
                  <a:t>SiN</a:t>
                </a:r>
                <a:r>
                  <a:rPr lang="en-US" dirty="0">
                    <a:solidFill>
                      <a:sysClr val="windowText" lastClr="000000"/>
                    </a:solidFill>
                  </a:rPr>
                  <a:t> </a:t>
                </a:r>
                <a:r>
                  <a:rPr lang="en-US" b="0" dirty="0">
                    <a:solidFill>
                      <a:sysClr val="windowText" lastClr="000000"/>
                    </a:solidFill>
                  </a:rPr>
                  <a:t>platform</a:t>
                </a:r>
                <a:endParaRPr lang="es-ES" b="0" dirty="0"/>
              </a:p>
            </p:txBody>
          </p:sp>
        </mc:Choice>
        <mc:Fallback xmlns="">
          <p:sp>
            <p:nvSpPr>
              <p:cNvPr id="2" name="Título 1">
                <a:extLst>
                  <a:ext uri="{FF2B5EF4-FFF2-40B4-BE49-F238E27FC236}">
                    <a16:creationId xmlns:a16="http://schemas.microsoft.com/office/drawing/2014/main" id="{D6661FFC-3CD8-2F5B-03FD-4DD48DCD3F42}"/>
                  </a:ext>
                </a:extLst>
              </p:cNvPr>
              <p:cNvSpPr>
                <a:spLocks noGrp="1" noRot="1" noChangeAspect="1" noMove="1" noResize="1" noEditPoints="1" noAdjustHandles="1" noChangeArrowheads="1" noChangeShapeType="1" noTextEdit="1"/>
              </p:cNvSpPr>
              <p:nvPr>
                <p:ph type="title"/>
              </p:nvPr>
            </p:nvSpPr>
            <p:spPr>
              <a:xfrm>
                <a:off x="600075" y="374504"/>
                <a:ext cx="10991850" cy="307777"/>
              </a:xfrm>
              <a:blipFill>
                <a:blip r:embed="rId2"/>
                <a:stretch>
                  <a:fillRect l="-1386" t="-25490" b="-49020"/>
                </a:stretch>
              </a:blipFill>
            </p:spPr>
            <p:txBody>
              <a:bodyPr/>
              <a:lstStyle/>
              <a:p>
                <a:r>
                  <a:rPr lang="es-ES">
                    <a:noFill/>
                  </a:rPr>
                  <a:t> </a:t>
                </a:r>
              </a:p>
            </p:txBody>
          </p:sp>
        </mc:Fallback>
      </mc:AlternateContent>
      <p:sp>
        <p:nvSpPr>
          <p:cNvPr id="4" name="Marcador de pie de página 3">
            <a:extLst>
              <a:ext uri="{FF2B5EF4-FFF2-40B4-BE49-F238E27FC236}">
                <a16:creationId xmlns:a16="http://schemas.microsoft.com/office/drawing/2014/main" id="{506918E6-9B10-1623-9131-49A52E16A94F}"/>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56F3AB77-3955-1B42-F5ED-CD8A5B3AFEA7}"/>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9" name="Marcador de texto 8">
            <a:extLst>
              <a:ext uri="{FF2B5EF4-FFF2-40B4-BE49-F238E27FC236}">
                <a16:creationId xmlns:a16="http://schemas.microsoft.com/office/drawing/2014/main" id="{A5E2C8D3-6C98-D6CE-8BF3-9A1F7F0B2356}"/>
              </a:ext>
            </a:extLst>
          </p:cNvPr>
          <p:cNvSpPr>
            <a:spLocks noGrp="1"/>
          </p:cNvSpPr>
          <p:nvPr>
            <p:ph type="body" idx="1"/>
          </p:nvPr>
        </p:nvSpPr>
        <p:spPr>
          <a:xfrm>
            <a:off x="800134" y="5120896"/>
            <a:ext cx="10515600" cy="830997"/>
          </a:xfrm>
        </p:spPr>
        <p:txBody>
          <a:bodyPr/>
          <a:lstStyle/>
          <a:p>
            <a:r>
              <a:rPr lang="es-ES" dirty="0"/>
              <a:t>De estas 3 simulaciones, se puede interpretar que las pérdidas por propagación predominan sobre las pérdidas de exceso; por que, al introducir unas pérdidas de propagación del 10% la potencia máxima de salida es menor que al introducir un 10% en las pérdidas de exceso.</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B185A7BE-8B8C-8C68-F7ED-31762176A345}"/>
                  </a:ext>
                </a:extLst>
              </p:cNvPr>
              <p:cNvSpPr txBox="1"/>
              <p:nvPr/>
            </p:nvSpPr>
            <p:spPr>
              <a:xfrm>
                <a:off x="771559" y="3402161"/>
                <a:ext cx="3255250" cy="381515"/>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α</m:t>
                        </m:r>
                      </m:e>
                      <m:sub>
                        <m:r>
                          <a:rPr lang="es-ES" b="0" i="1" smtClean="0">
                            <a:latin typeface="Cambria Math" panose="02040503050406030204" pitchFamily="18" charset="0"/>
                          </a:rPr>
                          <m:t>𝑎</m:t>
                        </m:r>
                        <m:r>
                          <a:rPr lang="es-ES" b="0" i="1" smtClean="0">
                            <a:latin typeface="Cambria Math" panose="02040503050406030204" pitchFamily="18" charset="0"/>
                          </a:rPr>
                          <m:t>,</m:t>
                        </m:r>
                        <m:r>
                          <a:rPr lang="es-ES" b="0" i="1"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oMath>
                </a14:m>
                <a:r>
                  <a:rPr lang="en-US" kern="0" dirty="0">
                    <a:solidFill>
                      <a:sysClr val="windowText" lastClr="000000"/>
                    </a:solidFill>
                  </a:rPr>
                  <a:t> and </a:t>
                </a:r>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γ</m:t>
                        </m:r>
                      </m:e>
                      <m:sub>
                        <m:r>
                          <a:rPr lang="es-ES" b="0" i="1" smtClean="0">
                            <a:latin typeface="Cambria Math" panose="02040503050406030204" pitchFamily="18" charset="0"/>
                          </a:rPr>
                          <m:t>𝑎</m:t>
                        </m:r>
                        <m:r>
                          <a:rPr lang="es-ES" b="0" i="1" smtClean="0">
                            <a:latin typeface="Cambria Math" panose="02040503050406030204" pitchFamily="18" charset="0"/>
                          </a:rPr>
                          <m:t>, </m:t>
                        </m:r>
                        <m:r>
                          <a:rPr lang="es-ES" b="0" i="1" smtClean="0">
                            <a:latin typeface="Cambria Math" panose="02040503050406030204" pitchFamily="18" charset="0"/>
                          </a:rPr>
                          <m:t>𝑏</m:t>
                        </m:r>
                      </m:sub>
                    </m:sSub>
                    <m:r>
                      <a:rPr lang="es-ES" b="0" i="1" smtClean="0">
                        <a:latin typeface="Cambria Math" panose="02040503050406030204" pitchFamily="18" charset="0"/>
                      </a:rPr>
                      <m:t>=0.1</m:t>
                    </m:r>
                  </m:oMath>
                </a14:m>
                <a:endParaRPr lang="es-ES" dirty="0"/>
              </a:p>
            </p:txBody>
          </p:sp>
        </mc:Choice>
        <mc:Fallback xmlns="">
          <p:sp>
            <p:nvSpPr>
              <p:cNvPr id="10" name="CuadroTexto 9">
                <a:extLst>
                  <a:ext uri="{FF2B5EF4-FFF2-40B4-BE49-F238E27FC236}">
                    <a16:creationId xmlns:a16="http://schemas.microsoft.com/office/drawing/2014/main" id="{B185A7BE-8B8C-8C68-F7ED-31762176A345}"/>
                  </a:ext>
                </a:extLst>
              </p:cNvPr>
              <p:cNvSpPr txBox="1">
                <a:spLocks noRot="1" noChangeAspect="1" noMove="1" noResize="1" noEditPoints="1" noAdjustHandles="1" noChangeArrowheads="1" noChangeShapeType="1" noTextEdit="1"/>
              </p:cNvSpPr>
              <p:nvPr/>
            </p:nvSpPr>
            <p:spPr>
              <a:xfrm>
                <a:off x="771559" y="3402161"/>
                <a:ext cx="3255250" cy="381515"/>
              </a:xfrm>
              <a:prstGeom prst="rect">
                <a:avLst/>
              </a:prstGeom>
              <a:blipFill>
                <a:blip r:embed="rId3"/>
                <a:stretch>
                  <a:fillRect t="-6349" b="-2222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E836AEF-A058-7EF7-81CC-CAF6A0FD890E}"/>
                  </a:ext>
                </a:extLst>
              </p:cNvPr>
              <p:cNvSpPr txBox="1"/>
              <p:nvPr/>
            </p:nvSpPr>
            <p:spPr>
              <a:xfrm>
                <a:off x="750209" y="4120700"/>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k</m:t>
                        </m:r>
                      </m:e>
                      <m:sub>
                        <m:r>
                          <a:rPr lang="es-ES" b="0" i="1" smtClean="0">
                            <a:latin typeface="Cambria Math" panose="02040503050406030204" pitchFamily="18" charset="0"/>
                          </a:rPr>
                          <m:t>𝑎</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0" smtClean="0">
                        <a:latin typeface="Cambria Math" panose="02040503050406030204" pitchFamily="18" charset="0"/>
                        <a:ea typeface="Cambria Math" panose="02040503050406030204" pitchFamily="18" charset="0"/>
                      </a:rPr>
                      <m:t>.5</m:t>
                    </m:r>
                  </m:oMath>
                </a14:m>
                <a:r>
                  <a:rPr lang="en-US" kern="0" dirty="0">
                    <a:solidFill>
                      <a:sysClr val="windowText" lastClr="000000"/>
                    </a:solidFill>
                  </a:rPr>
                  <a:t> and </a:t>
                </a:r>
                <a14:m>
                  <m:oMath xmlns:m="http://schemas.openxmlformats.org/officeDocument/2006/math">
                    <m:sSub>
                      <m:sSubPr>
                        <m:ctrlPr>
                          <a:rPr lang="es-ES" b="0" i="1" dirty="0" smtClean="0">
                            <a:latin typeface="Cambria Math" panose="02040503050406030204" pitchFamily="18" charset="0"/>
                          </a:rPr>
                        </m:ctrlPr>
                      </m:sSubPr>
                      <m:e>
                        <m:r>
                          <m:rPr>
                            <m:sty m:val="p"/>
                          </m:rPr>
                          <a:rPr lang="es-ES" i="1" dirty="0">
                            <a:latin typeface="Cambria Math" panose="02040503050406030204" pitchFamily="18" charset="0"/>
                          </a:rPr>
                          <m:t>k</m:t>
                        </m:r>
                      </m:e>
                      <m:sub>
                        <m:r>
                          <a:rPr lang="es-ES" b="0" i="1" dirty="0"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.5 </m:t>
                    </m:r>
                  </m:oMath>
                </a14:m>
                <a:endParaRPr lang="es-ES" dirty="0"/>
              </a:p>
            </p:txBody>
          </p:sp>
        </mc:Choice>
        <mc:Fallback xmlns="">
          <p:sp>
            <p:nvSpPr>
              <p:cNvPr id="11" name="CuadroTexto 10">
                <a:extLst>
                  <a:ext uri="{FF2B5EF4-FFF2-40B4-BE49-F238E27FC236}">
                    <a16:creationId xmlns:a16="http://schemas.microsoft.com/office/drawing/2014/main" id="{DE836AEF-A058-7EF7-81CC-CAF6A0FD890E}"/>
                  </a:ext>
                </a:extLst>
              </p:cNvPr>
              <p:cNvSpPr txBox="1">
                <a:spLocks noRot="1" noChangeAspect="1" noMove="1" noResize="1" noEditPoints="1" noAdjustHandles="1" noChangeArrowheads="1" noChangeShapeType="1" noTextEdit="1"/>
              </p:cNvSpPr>
              <p:nvPr/>
            </p:nvSpPr>
            <p:spPr>
              <a:xfrm>
                <a:off x="750209" y="4120700"/>
                <a:ext cx="2743200" cy="369332"/>
              </a:xfrm>
              <a:prstGeom prst="rect">
                <a:avLst/>
              </a:prstGeom>
              <a:blipFill>
                <a:blip r:embed="rId4"/>
                <a:stretch>
                  <a:fillRect t="-9836"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0453D3F-F004-F550-4506-94658D65A6AC}"/>
                  </a:ext>
                </a:extLst>
              </p:cNvPr>
              <p:cNvSpPr txBox="1"/>
              <p:nvPr/>
            </p:nvSpPr>
            <p:spPr>
              <a:xfrm>
                <a:off x="293009" y="3743660"/>
                <a:ext cx="2743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r>
                            <a:rPr lang="es-ES" b="0" i="1" smtClean="0">
                              <a:latin typeface="Cambria Math" panose="02040503050406030204" pitchFamily="18" charset="0"/>
                            </a:rPr>
                            <m:t>_</m:t>
                          </m:r>
                          <m:r>
                            <a:rPr lang="es-ES" b="0" i="1" smtClean="0">
                              <a:latin typeface="Cambria Math" panose="02040503050406030204" pitchFamily="18" charset="0"/>
                            </a:rPr>
                            <m:t>𝑒𝑓𝑓</m:t>
                          </m:r>
                        </m:e>
                        <m:sub>
                          <m:r>
                            <a:rPr lang="es-ES" b="0" i="1" smtClean="0">
                              <a:latin typeface="Cambria Math" panose="02040503050406030204" pitchFamily="18" charset="0"/>
                            </a:rPr>
                            <m:t>𝑢</m:t>
                          </m:r>
                          <m:r>
                            <a:rPr lang="es-ES" b="0" i="1" smtClean="0">
                              <a:latin typeface="Cambria Math" panose="02040503050406030204" pitchFamily="18" charset="0"/>
                            </a:rPr>
                            <m:t> </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𝑛</m:t>
                          </m:r>
                          <m:r>
                            <a:rPr lang="es-ES" i="1">
                              <a:latin typeface="Cambria Math" panose="02040503050406030204" pitchFamily="18" charset="0"/>
                            </a:rPr>
                            <m:t>_</m:t>
                          </m:r>
                          <m:r>
                            <a:rPr lang="es-ES" i="1">
                              <a:latin typeface="Cambria Math" panose="02040503050406030204" pitchFamily="18" charset="0"/>
                            </a:rPr>
                            <m:t>𝑒𝑓𝑓</m:t>
                          </m:r>
                        </m:e>
                        <m:sub>
                          <m:r>
                            <a:rPr lang="es-ES" b="0" i="1" smtClean="0">
                              <a:latin typeface="Cambria Math" panose="02040503050406030204" pitchFamily="18" charset="0"/>
                            </a:rPr>
                            <m:t>𝑙</m:t>
                          </m:r>
                        </m:sub>
                      </m:sSub>
                    </m:oMath>
                  </m:oMathPara>
                </a14:m>
                <a:endParaRPr lang="es-ES" dirty="0"/>
              </a:p>
            </p:txBody>
          </p:sp>
        </mc:Choice>
        <mc:Fallback xmlns="">
          <p:sp>
            <p:nvSpPr>
              <p:cNvPr id="12" name="CuadroTexto 11">
                <a:extLst>
                  <a:ext uri="{FF2B5EF4-FFF2-40B4-BE49-F238E27FC236}">
                    <a16:creationId xmlns:a16="http://schemas.microsoft.com/office/drawing/2014/main" id="{B0453D3F-F004-F550-4506-94658D65A6AC}"/>
                  </a:ext>
                </a:extLst>
              </p:cNvPr>
              <p:cNvSpPr txBox="1">
                <a:spLocks noRot="1" noChangeAspect="1" noMove="1" noResize="1" noEditPoints="1" noAdjustHandles="1" noChangeArrowheads="1" noChangeShapeType="1" noTextEdit="1"/>
              </p:cNvSpPr>
              <p:nvPr/>
            </p:nvSpPr>
            <p:spPr>
              <a:xfrm>
                <a:off x="293009" y="3743660"/>
                <a:ext cx="2743200" cy="369332"/>
              </a:xfrm>
              <a:prstGeom prst="rect">
                <a:avLst/>
              </a:prstGeom>
              <a:blipFill>
                <a:blip r:embed="rId5"/>
                <a:stretch>
                  <a:fillRect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F7F32D14-2B0B-1486-F25E-F0DED25312A4}"/>
                  </a:ext>
                </a:extLst>
              </p:cNvPr>
              <p:cNvSpPr txBox="1"/>
              <p:nvPr/>
            </p:nvSpPr>
            <p:spPr>
              <a:xfrm>
                <a:off x="771559" y="4490032"/>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𝑢</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 25 </m:t>
                        </m:r>
                        <m:r>
                          <a:rPr lang="es-ES" b="0" i="1" smtClean="0">
                            <a:latin typeface="Cambria Math" panose="02040503050406030204" pitchFamily="18" charset="0"/>
                          </a:rPr>
                          <m:t>𝑎𝑛𝑑</m:t>
                        </m:r>
                        <m:r>
                          <a:rPr lang="es-ES" b="0" i="1" smtClean="0">
                            <a:latin typeface="Cambria Math" panose="02040503050406030204" pitchFamily="18" charset="0"/>
                          </a:rPr>
                          <m:t> </m:t>
                        </m:r>
                        <m:r>
                          <a:rPr lang="es-ES" b="0" i="1" smtClean="0">
                            <a:latin typeface="Cambria Math" panose="02040503050406030204" pitchFamily="18" charset="0"/>
                          </a:rPr>
                          <m:t>𝐿</m:t>
                        </m:r>
                      </m:e>
                      <m:sub>
                        <m:r>
                          <a:rPr lang="es-ES" b="0" i="1" smtClean="0">
                            <a:latin typeface="Cambria Math" panose="02040503050406030204" pitchFamily="18" charset="0"/>
                          </a:rPr>
                          <m:t>𝑙</m:t>
                        </m:r>
                        <m:r>
                          <a:rPr lang="es-ES" b="0" i="1" smtClean="0">
                            <a:latin typeface="Cambria Math" panose="02040503050406030204" pitchFamily="18" charset="0"/>
                          </a:rPr>
                          <m:t> </m:t>
                        </m:r>
                      </m:sub>
                    </m:sSub>
                  </m:oMath>
                </a14:m>
                <a:r>
                  <a:rPr lang="es-ES" dirty="0"/>
                  <a:t> </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5 </m:t>
                    </m:r>
                    <m:r>
                      <a:rPr lang="es-ES" b="0" i="1" smtClean="0">
                        <a:latin typeface="Cambria Math" panose="02040503050406030204" pitchFamily="18" charset="0"/>
                      </a:rPr>
                      <m:t>𝑢𝑚</m:t>
                    </m:r>
                  </m:oMath>
                </a14:m>
                <a:endParaRPr lang="es-ES" dirty="0"/>
              </a:p>
            </p:txBody>
          </p:sp>
        </mc:Choice>
        <mc:Fallback xmlns="">
          <p:sp>
            <p:nvSpPr>
              <p:cNvPr id="13" name="CuadroTexto 12">
                <a:extLst>
                  <a:ext uri="{FF2B5EF4-FFF2-40B4-BE49-F238E27FC236}">
                    <a16:creationId xmlns:a16="http://schemas.microsoft.com/office/drawing/2014/main" id="{F7F32D14-2B0B-1486-F25E-F0DED25312A4}"/>
                  </a:ext>
                </a:extLst>
              </p:cNvPr>
              <p:cNvSpPr txBox="1">
                <a:spLocks noRot="1" noChangeAspect="1" noMove="1" noResize="1" noEditPoints="1" noAdjustHandles="1" noChangeArrowheads="1" noChangeShapeType="1" noTextEdit="1"/>
              </p:cNvSpPr>
              <p:nvPr/>
            </p:nvSpPr>
            <p:spPr>
              <a:xfrm>
                <a:off x="771559" y="4490032"/>
                <a:ext cx="2743200" cy="369332"/>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563BDD73-166C-A0F9-CFA8-753C36A7953E}"/>
                  </a:ext>
                </a:extLst>
              </p:cNvPr>
              <p:cNvSpPr txBox="1"/>
              <p:nvPr/>
            </p:nvSpPr>
            <p:spPr>
              <a:xfrm>
                <a:off x="4583859" y="3402161"/>
                <a:ext cx="3255250" cy="381515"/>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α</m:t>
                        </m:r>
                      </m:e>
                      <m:sub>
                        <m:r>
                          <a:rPr lang="es-ES" b="0" i="1" smtClean="0">
                            <a:latin typeface="Cambria Math" panose="02040503050406030204" pitchFamily="18" charset="0"/>
                          </a:rPr>
                          <m:t>𝑎</m:t>
                        </m:r>
                        <m:r>
                          <a:rPr lang="es-ES" b="0" i="1" smtClean="0">
                            <a:latin typeface="Cambria Math" panose="02040503050406030204" pitchFamily="18" charset="0"/>
                          </a:rPr>
                          <m:t>,</m:t>
                        </m:r>
                        <m:r>
                          <a:rPr lang="es-ES" b="0" i="1"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.1</m:t>
                    </m:r>
                  </m:oMath>
                </a14:m>
                <a:r>
                  <a:rPr lang="en-US" kern="0" dirty="0">
                    <a:solidFill>
                      <a:sysClr val="windowText" lastClr="000000"/>
                    </a:solidFill>
                  </a:rPr>
                  <a:t> and </a:t>
                </a:r>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γ</m:t>
                        </m:r>
                      </m:e>
                      <m:sub>
                        <m:r>
                          <a:rPr lang="es-ES" b="0" i="1" smtClean="0">
                            <a:latin typeface="Cambria Math" panose="02040503050406030204" pitchFamily="18" charset="0"/>
                          </a:rPr>
                          <m:t>𝑎</m:t>
                        </m:r>
                        <m:r>
                          <a:rPr lang="es-ES" b="0" i="1" smtClean="0">
                            <a:latin typeface="Cambria Math" panose="02040503050406030204" pitchFamily="18" charset="0"/>
                          </a:rPr>
                          <m:t>, </m:t>
                        </m:r>
                        <m:r>
                          <a:rPr lang="es-ES" b="0" i="1" smtClean="0">
                            <a:latin typeface="Cambria Math" panose="02040503050406030204" pitchFamily="18" charset="0"/>
                          </a:rPr>
                          <m:t>𝑏</m:t>
                        </m:r>
                      </m:sub>
                    </m:sSub>
                    <m:r>
                      <a:rPr lang="es-ES" b="0" i="1" smtClean="0">
                        <a:latin typeface="Cambria Math" panose="02040503050406030204" pitchFamily="18" charset="0"/>
                      </a:rPr>
                      <m:t>=0</m:t>
                    </m:r>
                  </m:oMath>
                </a14:m>
                <a:endParaRPr lang="es-ES" dirty="0"/>
              </a:p>
            </p:txBody>
          </p:sp>
        </mc:Choice>
        <mc:Fallback xmlns="">
          <p:sp>
            <p:nvSpPr>
              <p:cNvPr id="14" name="CuadroTexto 13">
                <a:extLst>
                  <a:ext uri="{FF2B5EF4-FFF2-40B4-BE49-F238E27FC236}">
                    <a16:creationId xmlns:a16="http://schemas.microsoft.com/office/drawing/2014/main" id="{563BDD73-166C-A0F9-CFA8-753C36A7953E}"/>
                  </a:ext>
                </a:extLst>
              </p:cNvPr>
              <p:cNvSpPr txBox="1">
                <a:spLocks noRot="1" noChangeAspect="1" noMove="1" noResize="1" noEditPoints="1" noAdjustHandles="1" noChangeArrowheads="1" noChangeShapeType="1" noTextEdit="1"/>
              </p:cNvSpPr>
              <p:nvPr/>
            </p:nvSpPr>
            <p:spPr>
              <a:xfrm>
                <a:off x="4583859" y="3402161"/>
                <a:ext cx="3255250" cy="381515"/>
              </a:xfrm>
              <a:prstGeom prst="rect">
                <a:avLst/>
              </a:prstGeom>
              <a:blipFill>
                <a:blip r:embed="rId7"/>
                <a:stretch>
                  <a:fillRect t="-6349" b="-2222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93489092-12E2-9BB4-E9C2-2BA34AE11D44}"/>
                  </a:ext>
                </a:extLst>
              </p:cNvPr>
              <p:cNvSpPr txBox="1"/>
              <p:nvPr/>
            </p:nvSpPr>
            <p:spPr>
              <a:xfrm>
                <a:off x="4562509" y="4120700"/>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k</m:t>
                        </m:r>
                      </m:e>
                      <m:sub>
                        <m:r>
                          <a:rPr lang="es-ES" b="0" i="1" smtClean="0">
                            <a:latin typeface="Cambria Math" panose="02040503050406030204" pitchFamily="18" charset="0"/>
                          </a:rPr>
                          <m:t>𝑎</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0" smtClean="0">
                        <a:latin typeface="Cambria Math" panose="02040503050406030204" pitchFamily="18" charset="0"/>
                        <a:ea typeface="Cambria Math" panose="02040503050406030204" pitchFamily="18" charset="0"/>
                      </a:rPr>
                      <m:t>.5</m:t>
                    </m:r>
                  </m:oMath>
                </a14:m>
                <a:r>
                  <a:rPr lang="en-US" kern="0" dirty="0">
                    <a:solidFill>
                      <a:sysClr val="windowText" lastClr="000000"/>
                    </a:solidFill>
                  </a:rPr>
                  <a:t> and </a:t>
                </a:r>
                <a14:m>
                  <m:oMath xmlns:m="http://schemas.openxmlformats.org/officeDocument/2006/math">
                    <m:sSub>
                      <m:sSubPr>
                        <m:ctrlPr>
                          <a:rPr lang="es-ES" b="0" i="1" dirty="0" smtClean="0">
                            <a:latin typeface="Cambria Math" panose="02040503050406030204" pitchFamily="18" charset="0"/>
                          </a:rPr>
                        </m:ctrlPr>
                      </m:sSubPr>
                      <m:e>
                        <m:r>
                          <m:rPr>
                            <m:sty m:val="p"/>
                          </m:rPr>
                          <a:rPr lang="es-ES" i="1" dirty="0">
                            <a:latin typeface="Cambria Math" panose="02040503050406030204" pitchFamily="18" charset="0"/>
                          </a:rPr>
                          <m:t>k</m:t>
                        </m:r>
                      </m:e>
                      <m:sub>
                        <m:r>
                          <a:rPr lang="es-ES" b="0" i="1" dirty="0"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.5 </m:t>
                    </m:r>
                  </m:oMath>
                </a14:m>
                <a:endParaRPr lang="es-ES" dirty="0"/>
              </a:p>
            </p:txBody>
          </p:sp>
        </mc:Choice>
        <mc:Fallback xmlns="">
          <p:sp>
            <p:nvSpPr>
              <p:cNvPr id="15" name="CuadroTexto 14">
                <a:extLst>
                  <a:ext uri="{FF2B5EF4-FFF2-40B4-BE49-F238E27FC236}">
                    <a16:creationId xmlns:a16="http://schemas.microsoft.com/office/drawing/2014/main" id="{93489092-12E2-9BB4-E9C2-2BA34AE11D44}"/>
                  </a:ext>
                </a:extLst>
              </p:cNvPr>
              <p:cNvSpPr txBox="1">
                <a:spLocks noRot="1" noChangeAspect="1" noMove="1" noResize="1" noEditPoints="1" noAdjustHandles="1" noChangeArrowheads="1" noChangeShapeType="1" noTextEdit="1"/>
              </p:cNvSpPr>
              <p:nvPr/>
            </p:nvSpPr>
            <p:spPr>
              <a:xfrm>
                <a:off x="4562509" y="4120700"/>
                <a:ext cx="2743200" cy="369332"/>
              </a:xfrm>
              <a:prstGeom prst="rect">
                <a:avLst/>
              </a:prstGeom>
              <a:blipFill>
                <a:blip r:embed="rId8"/>
                <a:stretch>
                  <a:fillRect t="-9836"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34D0A864-CF5F-5C61-753F-D5B4BAE9E676}"/>
                  </a:ext>
                </a:extLst>
              </p:cNvPr>
              <p:cNvSpPr txBox="1"/>
              <p:nvPr/>
            </p:nvSpPr>
            <p:spPr>
              <a:xfrm>
                <a:off x="4105309" y="3743660"/>
                <a:ext cx="2743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r>
                            <a:rPr lang="es-ES" b="0" i="1" smtClean="0">
                              <a:latin typeface="Cambria Math" panose="02040503050406030204" pitchFamily="18" charset="0"/>
                            </a:rPr>
                            <m:t>_</m:t>
                          </m:r>
                          <m:r>
                            <a:rPr lang="es-ES" b="0" i="1" smtClean="0">
                              <a:latin typeface="Cambria Math" panose="02040503050406030204" pitchFamily="18" charset="0"/>
                            </a:rPr>
                            <m:t>𝑒𝑓𝑓</m:t>
                          </m:r>
                        </m:e>
                        <m:sub>
                          <m:r>
                            <a:rPr lang="es-ES" b="0" i="1" smtClean="0">
                              <a:latin typeface="Cambria Math" panose="02040503050406030204" pitchFamily="18" charset="0"/>
                            </a:rPr>
                            <m:t>𝑢</m:t>
                          </m:r>
                          <m:r>
                            <a:rPr lang="es-ES" b="0" i="1" smtClean="0">
                              <a:latin typeface="Cambria Math" panose="02040503050406030204" pitchFamily="18" charset="0"/>
                            </a:rPr>
                            <m:t> </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𝑛</m:t>
                          </m:r>
                          <m:r>
                            <a:rPr lang="es-ES" i="1">
                              <a:latin typeface="Cambria Math" panose="02040503050406030204" pitchFamily="18" charset="0"/>
                            </a:rPr>
                            <m:t>_</m:t>
                          </m:r>
                          <m:r>
                            <a:rPr lang="es-ES" i="1">
                              <a:latin typeface="Cambria Math" panose="02040503050406030204" pitchFamily="18" charset="0"/>
                            </a:rPr>
                            <m:t>𝑒𝑓𝑓</m:t>
                          </m:r>
                        </m:e>
                        <m:sub>
                          <m:r>
                            <a:rPr lang="es-ES" b="0" i="1" smtClean="0">
                              <a:latin typeface="Cambria Math" panose="02040503050406030204" pitchFamily="18" charset="0"/>
                            </a:rPr>
                            <m:t>𝑙</m:t>
                          </m:r>
                        </m:sub>
                      </m:sSub>
                    </m:oMath>
                  </m:oMathPara>
                </a14:m>
                <a:endParaRPr lang="es-ES" dirty="0"/>
              </a:p>
            </p:txBody>
          </p:sp>
        </mc:Choice>
        <mc:Fallback xmlns="">
          <p:sp>
            <p:nvSpPr>
              <p:cNvPr id="16" name="CuadroTexto 15">
                <a:extLst>
                  <a:ext uri="{FF2B5EF4-FFF2-40B4-BE49-F238E27FC236}">
                    <a16:creationId xmlns:a16="http://schemas.microsoft.com/office/drawing/2014/main" id="{34D0A864-CF5F-5C61-753F-D5B4BAE9E676}"/>
                  </a:ext>
                </a:extLst>
              </p:cNvPr>
              <p:cNvSpPr txBox="1">
                <a:spLocks noRot="1" noChangeAspect="1" noMove="1" noResize="1" noEditPoints="1" noAdjustHandles="1" noChangeArrowheads="1" noChangeShapeType="1" noTextEdit="1"/>
              </p:cNvSpPr>
              <p:nvPr/>
            </p:nvSpPr>
            <p:spPr>
              <a:xfrm>
                <a:off x="4105309" y="3743660"/>
                <a:ext cx="2743200" cy="369332"/>
              </a:xfrm>
              <a:prstGeom prst="rect">
                <a:avLst/>
              </a:prstGeom>
              <a:blipFill>
                <a:blip r:embed="rId9"/>
                <a:stretch>
                  <a:fillRect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50EB611-EE10-E251-9EDA-3D152E769202}"/>
                  </a:ext>
                </a:extLst>
              </p:cNvPr>
              <p:cNvSpPr txBox="1"/>
              <p:nvPr/>
            </p:nvSpPr>
            <p:spPr>
              <a:xfrm>
                <a:off x="4583859" y="4490032"/>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𝑢</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 25 </m:t>
                        </m:r>
                        <m:r>
                          <a:rPr lang="es-ES" b="0" i="1" smtClean="0">
                            <a:latin typeface="Cambria Math" panose="02040503050406030204" pitchFamily="18" charset="0"/>
                          </a:rPr>
                          <m:t>𝑎𝑛𝑑</m:t>
                        </m:r>
                        <m:r>
                          <a:rPr lang="es-ES" b="0" i="1" smtClean="0">
                            <a:latin typeface="Cambria Math" panose="02040503050406030204" pitchFamily="18" charset="0"/>
                          </a:rPr>
                          <m:t> </m:t>
                        </m:r>
                        <m:r>
                          <a:rPr lang="es-ES" b="0" i="1" smtClean="0">
                            <a:latin typeface="Cambria Math" panose="02040503050406030204" pitchFamily="18" charset="0"/>
                          </a:rPr>
                          <m:t>𝐿</m:t>
                        </m:r>
                      </m:e>
                      <m:sub>
                        <m:r>
                          <a:rPr lang="es-ES" b="0" i="1" smtClean="0">
                            <a:latin typeface="Cambria Math" panose="02040503050406030204" pitchFamily="18" charset="0"/>
                          </a:rPr>
                          <m:t>𝑙</m:t>
                        </m:r>
                        <m:r>
                          <a:rPr lang="es-ES" b="0" i="1" smtClean="0">
                            <a:latin typeface="Cambria Math" panose="02040503050406030204" pitchFamily="18" charset="0"/>
                          </a:rPr>
                          <m:t> </m:t>
                        </m:r>
                      </m:sub>
                    </m:sSub>
                  </m:oMath>
                </a14:m>
                <a:r>
                  <a:rPr lang="es-ES" dirty="0"/>
                  <a:t> </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5 </m:t>
                    </m:r>
                    <m:r>
                      <a:rPr lang="es-ES" b="0" i="1" smtClean="0">
                        <a:latin typeface="Cambria Math" panose="02040503050406030204" pitchFamily="18" charset="0"/>
                      </a:rPr>
                      <m:t>𝑢𝑚</m:t>
                    </m:r>
                  </m:oMath>
                </a14:m>
                <a:endParaRPr lang="es-ES" dirty="0"/>
              </a:p>
            </p:txBody>
          </p:sp>
        </mc:Choice>
        <mc:Fallback xmlns="">
          <p:sp>
            <p:nvSpPr>
              <p:cNvPr id="17" name="CuadroTexto 16">
                <a:extLst>
                  <a:ext uri="{FF2B5EF4-FFF2-40B4-BE49-F238E27FC236}">
                    <a16:creationId xmlns:a16="http://schemas.microsoft.com/office/drawing/2014/main" id="{B50EB611-EE10-E251-9EDA-3D152E769202}"/>
                  </a:ext>
                </a:extLst>
              </p:cNvPr>
              <p:cNvSpPr txBox="1">
                <a:spLocks noRot="1" noChangeAspect="1" noMove="1" noResize="1" noEditPoints="1" noAdjustHandles="1" noChangeArrowheads="1" noChangeShapeType="1" noTextEdit="1"/>
              </p:cNvSpPr>
              <p:nvPr/>
            </p:nvSpPr>
            <p:spPr>
              <a:xfrm>
                <a:off x="4583859" y="4490032"/>
                <a:ext cx="2743200" cy="369332"/>
              </a:xfrm>
              <a:prstGeom prst="rect">
                <a:avLst/>
              </a:prstGeom>
              <a:blipFill>
                <a:blip r:embed="rId10"/>
                <a:stretch>
                  <a:fillRect/>
                </a:stretch>
              </a:blipFill>
            </p:spPr>
            <p:txBody>
              <a:bodyPr/>
              <a:lstStyle/>
              <a:p>
                <a:r>
                  <a:rPr lang="es-ES">
                    <a:noFill/>
                  </a:rPr>
                  <a:t> </a:t>
                </a:r>
              </a:p>
            </p:txBody>
          </p:sp>
        </mc:Fallback>
      </mc:AlternateContent>
      <p:pic>
        <p:nvPicPr>
          <p:cNvPr id="19" name="Imagen 18" descr="Gráfico, Gráfico de líneas&#10;&#10;El contenido generado por IA puede ser incorrecto.">
            <a:extLst>
              <a:ext uri="{FF2B5EF4-FFF2-40B4-BE49-F238E27FC236}">
                <a16:creationId xmlns:a16="http://schemas.microsoft.com/office/drawing/2014/main" id="{B71D568F-46A2-86FC-0168-8570426E38E7}"/>
              </a:ext>
            </a:extLst>
          </p:cNvPr>
          <p:cNvPicPr>
            <a:picLocks noChangeAspect="1"/>
          </p:cNvPicPr>
          <p:nvPr/>
        </p:nvPicPr>
        <p:blipFill>
          <a:blip r:embed="rId11"/>
          <a:stretch>
            <a:fillRect/>
          </a:stretch>
        </p:blipFill>
        <p:spPr>
          <a:xfrm>
            <a:off x="4267200" y="798706"/>
            <a:ext cx="3220566" cy="2584405"/>
          </a:xfrm>
          <a:prstGeom prst="rect">
            <a:avLst/>
          </a:prstGeom>
        </p:spPr>
      </p:pic>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066C65FB-2D33-EFB3-C5A1-3019E09CDBD9}"/>
                  </a:ext>
                </a:extLst>
              </p:cNvPr>
              <p:cNvSpPr txBox="1"/>
              <p:nvPr/>
            </p:nvSpPr>
            <p:spPr>
              <a:xfrm>
                <a:off x="8416359" y="3378930"/>
                <a:ext cx="3255250" cy="381515"/>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α</m:t>
                        </m:r>
                      </m:e>
                      <m:sub>
                        <m:r>
                          <a:rPr lang="es-ES" b="0" i="1" smtClean="0">
                            <a:latin typeface="Cambria Math" panose="02040503050406030204" pitchFamily="18" charset="0"/>
                          </a:rPr>
                          <m:t>𝑎</m:t>
                        </m:r>
                        <m:r>
                          <a:rPr lang="es-ES" b="0" i="1" smtClean="0">
                            <a:latin typeface="Cambria Math" panose="02040503050406030204" pitchFamily="18" charset="0"/>
                          </a:rPr>
                          <m:t>,</m:t>
                        </m:r>
                        <m:r>
                          <a:rPr lang="es-ES" b="0" i="1"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.1</m:t>
                    </m:r>
                  </m:oMath>
                </a14:m>
                <a:r>
                  <a:rPr lang="en-US" kern="0" dirty="0">
                    <a:solidFill>
                      <a:sysClr val="windowText" lastClr="000000"/>
                    </a:solidFill>
                  </a:rPr>
                  <a:t> and </a:t>
                </a:r>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γ</m:t>
                        </m:r>
                      </m:e>
                      <m:sub>
                        <m:r>
                          <a:rPr lang="es-ES" b="0" i="1" smtClean="0">
                            <a:latin typeface="Cambria Math" panose="02040503050406030204" pitchFamily="18" charset="0"/>
                          </a:rPr>
                          <m:t>𝑎</m:t>
                        </m:r>
                        <m:r>
                          <a:rPr lang="es-ES" b="0" i="1" smtClean="0">
                            <a:latin typeface="Cambria Math" panose="02040503050406030204" pitchFamily="18" charset="0"/>
                          </a:rPr>
                          <m:t>, </m:t>
                        </m:r>
                        <m:r>
                          <a:rPr lang="es-ES" b="0" i="1" smtClean="0">
                            <a:latin typeface="Cambria Math" panose="02040503050406030204" pitchFamily="18" charset="0"/>
                          </a:rPr>
                          <m:t>𝑏</m:t>
                        </m:r>
                      </m:sub>
                    </m:sSub>
                    <m:r>
                      <a:rPr lang="es-ES" b="0" i="1" smtClean="0">
                        <a:latin typeface="Cambria Math" panose="02040503050406030204" pitchFamily="18" charset="0"/>
                      </a:rPr>
                      <m:t>=0.1</m:t>
                    </m:r>
                  </m:oMath>
                </a14:m>
                <a:endParaRPr lang="es-ES" dirty="0"/>
              </a:p>
            </p:txBody>
          </p:sp>
        </mc:Choice>
        <mc:Fallback xmlns="">
          <p:sp>
            <p:nvSpPr>
              <p:cNvPr id="20" name="CuadroTexto 19">
                <a:extLst>
                  <a:ext uri="{FF2B5EF4-FFF2-40B4-BE49-F238E27FC236}">
                    <a16:creationId xmlns:a16="http://schemas.microsoft.com/office/drawing/2014/main" id="{066C65FB-2D33-EFB3-C5A1-3019E09CDBD9}"/>
                  </a:ext>
                </a:extLst>
              </p:cNvPr>
              <p:cNvSpPr txBox="1">
                <a:spLocks noRot="1" noChangeAspect="1" noMove="1" noResize="1" noEditPoints="1" noAdjustHandles="1" noChangeArrowheads="1" noChangeShapeType="1" noTextEdit="1"/>
              </p:cNvSpPr>
              <p:nvPr/>
            </p:nvSpPr>
            <p:spPr>
              <a:xfrm>
                <a:off x="8416359" y="3378930"/>
                <a:ext cx="3255250" cy="381515"/>
              </a:xfrm>
              <a:prstGeom prst="rect">
                <a:avLst/>
              </a:prstGeom>
              <a:blipFill>
                <a:blip r:embed="rId12"/>
                <a:stretch>
                  <a:fillRect t="-6349" b="-2222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C62A5441-55EA-B9F5-61C0-7E90E76F676B}"/>
                  </a:ext>
                </a:extLst>
              </p:cNvPr>
              <p:cNvSpPr txBox="1"/>
              <p:nvPr/>
            </p:nvSpPr>
            <p:spPr>
              <a:xfrm>
                <a:off x="8395009" y="4097469"/>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k</m:t>
                        </m:r>
                      </m:e>
                      <m:sub>
                        <m:r>
                          <a:rPr lang="es-ES" b="0" i="1" smtClean="0">
                            <a:latin typeface="Cambria Math" panose="02040503050406030204" pitchFamily="18" charset="0"/>
                          </a:rPr>
                          <m:t>𝑎</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0" smtClean="0">
                        <a:latin typeface="Cambria Math" panose="02040503050406030204" pitchFamily="18" charset="0"/>
                        <a:ea typeface="Cambria Math" panose="02040503050406030204" pitchFamily="18" charset="0"/>
                      </a:rPr>
                      <m:t>.5</m:t>
                    </m:r>
                  </m:oMath>
                </a14:m>
                <a:r>
                  <a:rPr lang="en-US" kern="0" dirty="0">
                    <a:solidFill>
                      <a:sysClr val="windowText" lastClr="000000"/>
                    </a:solidFill>
                  </a:rPr>
                  <a:t> and </a:t>
                </a:r>
                <a14:m>
                  <m:oMath xmlns:m="http://schemas.openxmlformats.org/officeDocument/2006/math">
                    <m:sSub>
                      <m:sSubPr>
                        <m:ctrlPr>
                          <a:rPr lang="es-ES" b="0" i="1" dirty="0" smtClean="0">
                            <a:latin typeface="Cambria Math" panose="02040503050406030204" pitchFamily="18" charset="0"/>
                          </a:rPr>
                        </m:ctrlPr>
                      </m:sSubPr>
                      <m:e>
                        <m:r>
                          <m:rPr>
                            <m:sty m:val="p"/>
                          </m:rPr>
                          <a:rPr lang="es-ES" i="1" dirty="0">
                            <a:latin typeface="Cambria Math" panose="02040503050406030204" pitchFamily="18" charset="0"/>
                          </a:rPr>
                          <m:t>k</m:t>
                        </m:r>
                      </m:e>
                      <m:sub>
                        <m:r>
                          <a:rPr lang="es-ES" b="0" i="1" dirty="0"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.5 </m:t>
                    </m:r>
                  </m:oMath>
                </a14:m>
                <a:endParaRPr lang="es-ES" dirty="0"/>
              </a:p>
            </p:txBody>
          </p:sp>
        </mc:Choice>
        <mc:Fallback xmlns="">
          <p:sp>
            <p:nvSpPr>
              <p:cNvPr id="21" name="CuadroTexto 20">
                <a:extLst>
                  <a:ext uri="{FF2B5EF4-FFF2-40B4-BE49-F238E27FC236}">
                    <a16:creationId xmlns:a16="http://schemas.microsoft.com/office/drawing/2014/main" id="{C62A5441-55EA-B9F5-61C0-7E90E76F676B}"/>
                  </a:ext>
                </a:extLst>
              </p:cNvPr>
              <p:cNvSpPr txBox="1">
                <a:spLocks noRot="1" noChangeAspect="1" noMove="1" noResize="1" noEditPoints="1" noAdjustHandles="1" noChangeArrowheads="1" noChangeShapeType="1" noTextEdit="1"/>
              </p:cNvSpPr>
              <p:nvPr/>
            </p:nvSpPr>
            <p:spPr>
              <a:xfrm>
                <a:off x="8395009" y="4097469"/>
                <a:ext cx="2743200" cy="369332"/>
              </a:xfrm>
              <a:prstGeom prst="rect">
                <a:avLst/>
              </a:prstGeom>
              <a:blipFill>
                <a:blip r:embed="rId13"/>
                <a:stretch>
                  <a:fillRect t="-8197"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70630B19-FD60-577B-3FB2-FD0E400BA254}"/>
                  </a:ext>
                </a:extLst>
              </p:cNvPr>
              <p:cNvSpPr txBox="1"/>
              <p:nvPr/>
            </p:nvSpPr>
            <p:spPr>
              <a:xfrm>
                <a:off x="7937809" y="3720429"/>
                <a:ext cx="2743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r>
                            <a:rPr lang="es-ES" b="0" i="1" smtClean="0">
                              <a:latin typeface="Cambria Math" panose="02040503050406030204" pitchFamily="18" charset="0"/>
                            </a:rPr>
                            <m:t>_</m:t>
                          </m:r>
                          <m:r>
                            <a:rPr lang="es-ES" b="0" i="1" smtClean="0">
                              <a:latin typeface="Cambria Math" panose="02040503050406030204" pitchFamily="18" charset="0"/>
                            </a:rPr>
                            <m:t>𝑒𝑓𝑓</m:t>
                          </m:r>
                        </m:e>
                        <m:sub>
                          <m:r>
                            <a:rPr lang="es-ES" b="0" i="1" smtClean="0">
                              <a:latin typeface="Cambria Math" panose="02040503050406030204" pitchFamily="18" charset="0"/>
                            </a:rPr>
                            <m:t>𝑢</m:t>
                          </m:r>
                          <m:r>
                            <a:rPr lang="es-ES" b="0" i="1" smtClean="0">
                              <a:latin typeface="Cambria Math" panose="02040503050406030204" pitchFamily="18" charset="0"/>
                            </a:rPr>
                            <m:t> </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𝑛</m:t>
                          </m:r>
                          <m:r>
                            <a:rPr lang="es-ES" i="1">
                              <a:latin typeface="Cambria Math" panose="02040503050406030204" pitchFamily="18" charset="0"/>
                            </a:rPr>
                            <m:t>_</m:t>
                          </m:r>
                          <m:r>
                            <a:rPr lang="es-ES" i="1">
                              <a:latin typeface="Cambria Math" panose="02040503050406030204" pitchFamily="18" charset="0"/>
                            </a:rPr>
                            <m:t>𝑒𝑓𝑓</m:t>
                          </m:r>
                        </m:e>
                        <m:sub>
                          <m:r>
                            <a:rPr lang="es-ES" b="0" i="1" smtClean="0">
                              <a:latin typeface="Cambria Math" panose="02040503050406030204" pitchFamily="18" charset="0"/>
                            </a:rPr>
                            <m:t>𝑙</m:t>
                          </m:r>
                        </m:sub>
                      </m:sSub>
                    </m:oMath>
                  </m:oMathPara>
                </a14:m>
                <a:endParaRPr lang="es-ES" dirty="0"/>
              </a:p>
            </p:txBody>
          </p:sp>
        </mc:Choice>
        <mc:Fallback xmlns="">
          <p:sp>
            <p:nvSpPr>
              <p:cNvPr id="22" name="CuadroTexto 21">
                <a:extLst>
                  <a:ext uri="{FF2B5EF4-FFF2-40B4-BE49-F238E27FC236}">
                    <a16:creationId xmlns:a16="http://schemas.microsoft.com/office/drawing/2014/main" id="{70630B19-FD60-577B-3FB2-FD0E400BA254}"/>
                  </a:ext>
                </a:extLst>
              </p:cNvPr>
              <p:cNvSpPr txBox="1">
                <a:spLocks noRot="1" noChangeAspect="1" noMove="1" noResize="1" noEditPoints="1" noAdjustHandles="1" noChangeArrowheads="1" noChangeShapeType="1" noTextEdit="1"/>
              </p:cNvSpPr>
              <p:nvPr/>
            </p:nvSpPr>
            <p:spPr>
              <a:xfrm>
                <a:off x="7937809" y="3720429"/>
                <a:ext cx="2743200" cy="369332"/>
              </a:xfrm>
              <a:prstGeom prst="rect">
                <a:avLst/>
              </a:prstGeom>
              <a:blipFill>
                <a:blip r:embed="rId14"/>
                <a:stretch>
                  <a:fillRect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C3DC3964-03A9-6F5A-88F3-78E0EC4BB24D}"/>
                  </a:ext>
                </a:extLst>
              </p:cNvPr>
              <p:cNvSpPr txBox="1"/>
              <p:nvPr/>
            </p:nvSpPr>
            <p:spPr>
              <a:xfrm>
                <a:off x="8416359" y="4466801"/>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𝑢</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 25 </m:t>
                        </m:r>
                        <m:r>
                          <a:rPr lang="es-ES" b="0" i="1" smtClean="0">
                            <a:latin typeface="Cambria Math" panose="02040503050406030204" pitchFamily="18" charset="0"/>
                          </a:rPr>
                          <m:t>𝑎𝑛𝑑</m:t>
                        </m:r>
                        <m:r>
                          <a:rPr lang="es-ES" b="0" i="1" smtClean="0">
                            <a:latin typeface="Cambria Math" panose="02040503050406030204" pitchFamily="18" charset="0"/>
                          </a:rPr>
                          <m:t> </m:t>
                        </m:r>
                        <m:r>
                          <a:rPr lang="es-ES" b="0" i="1" smtClean="0">
                            <a:latin typeface="Cambria Math" panose="02040503050406030204" pitchFamily="18" charset="0"/>
                          </a:rPr>
                          <m:t>𝐿</m:t>
                        </m:r>
                      </m:e>
                      <m:sub>
                        <m:r>
                          <a:rPr lang="es-ES" b="0" i="1" smtClean="0">
                            <a:latin typeface="Cambria Math" panose="02040503050406030204" pitchFamily="18" charset="0"/>
                          </a:rPr>
                          <m:t>𝑙</m:t>
                        </m:r>
                        <m:r>
                          <a:rPr lang="es-ES" b="0" i="1" smtClean="0">
                            <a:latin typeface="Cambria Math" panose="02040503050406030204" pitchFamily="18" charset="0"/>
                          </a:rPr>
                          <m:t> </m:t>
                        </m:r>
                      </m:sub>
                    </m:sSub>
                  </m:oMath>
                </a14:m>
                <a:r>
                  <a:rPr lang="es-ES" dirty="0"/>
                  <a:t> </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5 </m:t>
                    </m:r>
                    <m:r>
                      <a:rPr lang="es-ES" b="0" i="1" smtClean="0">
                        <a:latin typeface="Cambria Math" panose="02040503050406030204" pitchFamily="18" charset="0"/>
                      </a:rPr>
                      <m:t>𝑢𝑚</m:t>
                    </m:r>
                  </m:oMath>
                </a14:m>
                <a:endParaRPr lang="es-ES" dirty="0"/>
              </a:p>
            </p:txBody>
          </p:sp>
        </mc:Choice>
        <mc:Fallback xmlns="">
          <p:sp>
            <p:nvSpPr>
              <p:cNvPr id="23" name="CuadroTexto 22">
                <a:extLst>
                  <a:ext uri="{FF2B5EF4-FFF2-40B4-BE49-F238E27FC236}">
                    <a16:creationId xmlns:a16="http://schemas.microsoft.com/office/drawing/2014/main" id="{C3DC3964-03A9-6F5A-88F3-78E0EC4BB24D}"/>
                  </a:ext>
                </a:extLst>
              </p:cNvPr>
              <p:cNvSpPr txBox="1">
                <a:spLocks noRot="1" noChangeAspect="1" noMove="1" noResize="1" noEditPoints="1" noAdjustHandles="1" noChangeArrowheads="1" noChangeShapeType="1" noTextEdit="1"/>
              </p:cNvSpPr>
              <p:nvPr/>
            </p:nvSpPr>
            <p:spPr>
              <a:xfrm>
                <a:off x="8416359" y="4466801"/>
                <a:ext cx="2743200" cy="369332"/>
              </a:xfrm>
              <a:prstGeom prst="rect">
                <a:avLst/>
              </a:prstGeom>
              <a:blipFill>
                <a:blip r:embed="rId15"/>
                <a:stretch>
                  <a:fillRect/>
                </a:stretch>
              </a:blipFill>
            </p:spPr>
            <p:txBody>
              <a:bodyPr/>
              <a:lstStyle/>
              <a:p>
                <a:r>
                  <a:rPr lang="es-ES">
                    <a:noFill/>
                  </a:rPr>
                  <a:t> </a:t>
                </a:r>
              </a:p>
            </p:txBody>
          </p:sp>
        </mc:Fallback>
      </mc:AlternateContent>
      <p:pic>
        <p:nvPicPr>
          <p:cNvPr id="25" name="Imagen 24" descr="Gráfico, Gráfico de líneas&#10;&#10;El contenido generado por IA puede ser incorrecto.">
            <a:extLst>
              <a:ext uri="{FF2B5EF4-FFF2-40B4-BE49-F238E27FC236}">
                <a16:creationId xmlns:a16="http://schemas.microsoft.com/office/drawing/2014/main" id="{CE891E82-02F5-3A1B-4B0F-4202846E23C9}"/>
              </a:ext>
            </a:extLst>
          </p:cNvPr>
          <p:cNvPicPr>
            <a:picLocks noChangeAspect="1"/>
          </p:cNvPicPr>
          <p:nvPr/>
        </p:nvPicPr>
        <p:blipFill>
          <a:blip r:embed="rId16"/>
          <a:stretch>
            <a:fillRect/>
          </a:stretch>
        </p:blipFill>
        <p:spPr>
          <a:xfrm>
            <a:off x="568084" y="789925"/>
            <a:ext cx="3220566" cy="2584404"/>
          </a:xfrm>
          <a:prstGeom prst="rect">
            <a:avLst/>
          </a:prstGeom>
        </p:spPr>
      </p:pic>
      <p:pic>
        <p:nvPicPr>
          <p:cNvPr id="27" name="Imagen 26" descr="Gráfico, Gráfico de líneas&#10;&#10;El contenido generado por IA puede ser incorrecto.">
            <a:extLst>
              <a:ext uri="{FF2B5EF4-FFF2-40B4-BE49-F238E27FC236}">
                <a16:creationId xmlns:a16="http://schemas.microsoft.com/office/drawing/2014/main" id="{D5FD8375-DB21-504E-293C-C1B8D0DFF80A}"/>
              </a:ext>
            </a:extLst>
          </p:cNvPr>
          <p:cNvPicPr>
            <a:picLocks noChangeAspect="1"/>
          </p:cNvPicPr>
          <p:nvPr/>
        </p:nvPicPr>
        <p:blipFill>
          <a:blip r:embed="rId17"/>
          <a:stretch>
            <a:fillRect/>
          </a:stretch>
        </p:blipFill>
        <p:spPr>
          <a:xfrm>
            <a:off x="7912543" y="798706"/>
            <a:ext cx="3295802" cy="2603455"/>
          </a:xfrm>
          <a:prstGeom prst="rect">
            <a:avLst/>
          </a:prstGeom>
        </p:spPr>
      </p:pic>
    </p:spTree>
    <p:extLst>
      <p:ext uri="{BB962C8B-B14F-4D97-AF65-F5344CB8AC3E}">
        <p14:creationId xmlns:p14="http://schemas.microsoft.com/office/powerpoint/2010/main" val="3303866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7</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609600" y="746545"/>
                <a:ext cx="11048999" cy="1077456"/>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600" dirty="0"/>
                  <a:t>Considering the n_{eff} values for the SOI cross-section, what would be the path difference (</a:t>
                </a:r>
                <a14:m>
                  <m:oMath xmlns:m="http://schemas.openxmlformats.org/officeDocument/2006/math">
                    <m:r>
                      <m:rPr>
                        <m:sty m:val="p"/>
                      </m:rPr>
                      <a:rPr lang="es-ES" sz="1600" b="0" i="0" smtClean="0">
                        <a:latin typeface="Cambria Math" panose="02040503050406030204" pitchFamily="18" charset="0"/>
                      </a:rPr>
                      <m:t>ΔL</m:t>
                    </m:r>
                    <m:r>
                      <a:rPr lang="es-ES" sz="1600" b="0" i="1" smtClean="0">
                        <a:latin typeface="Cambria Math" panose="02040503050406030204" pitchFamily="18" charset="0"/>
                      </a:rPr>
                      <m:t>= </m:t>
                    </m:r>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𝑢</m:t>
                        </m:r>
                      </m:sub>
                    </m:sSub>
                    <m:r>
                      <a:rPr lang="es-ES" sz="1600" b="0" i="1" smtClean="0">
                        <a:latin typeface="Cambria Math" panose="02040503050406030204" pitchFamily="18" charset="0"/>
                      </a:rPr>
                      <m:t> −</m:t>
                    </m:r>
                    <m:sSub>
                      <m:sSubPr>
                        <m:ctrlPr>
                          <a:rPr lang="es-ES" sz="1600" i="1">
                            <a:latin typeface="Cambria Math" panose="02040503050406030204" pitchFamily="18" charset="0"/>
                          </a:rPr>
                        </m:ctrlPr>
                      </m:sSubPr>
                      <m:e>
                        <m:r>
                          <a:rPr lang="es-ES" sz="1600" b="0" i="1">
                            <a:latin typeface="Cambria Math" panose="02040503050406030204" pitchFamily="18" charset="0"/>
                          </a:rPr>
                          <m:t>𝐿</m:t>
                        </m:r>
                      </m:e>
                      <m:sub>
                        <m:r>
                          <a:rPr lang="es-ES" sz="1600" b="0" i="1" smtClean="0">
                            <a:latin typeface="Cambria Math" panose="02040503050406030204" pitchFamily="18" charset="0"/>
                          </a:rPr>
                          <m:t>𝑑</m:t>
                        </m:r>
                      </m:sub>
                    </m:sSub>
                  </m:oMath>
                </a14:m>
                <a:r>
                  <a:rPr lang="en-US" sz="1600" dirty="0"/>
                  <a:t>) needed to obtain a Free Spectral Range of 40 nm? Introduce the obtained value in the model to check the MZI response. </a:t>
                </a:r>
              </a:p>
              <a:p>
                <a:endParaRPr lang="en-US" sz="1600" dirty="0"/>
              </a:p>
              <a:p>
                <a:r>
                  <a:rPr lang="en-US" sz="1600" dirty="0"/>
                  <a:t>Hint: We assume 1550 nm as the central design wavelength (</a:t>
                </a:r>
                <a14:m>
                  <m:oMath xmlns:m="http://schemas.openxmlformats.org/officeDocument/2006/math">
                    <m:sSub>
                      <m:sSubPr>
                        <m:ctrlPr>
                          <a:rPr lang="es-ES" sz="1600" i="1" smtClean="0">
                            <a:latin typeface="Cambria Math" panose="02040503050406030204" pitchFamily="18" charset="0"/>
                          </a:rPr>
                        </m:ctrlPr>
                      </m:sSubPr>
                      <m:e>
                        <m:r>
                          <a:rPr lang="es-ES" sz="1600" i="1">
                            <a:latin typeface="Cambria Math" panose="02040503050406030204" pitchFamily="18" charset="0"/>
                          </a:rPr>
                          <m:t>𝜆</m:t>
                        </m:r>
                      </m:e>
                      <m:sub>
                        <m:r>
                          <a:rPr lang="es-ES" sz="1600" b="0" i="1" smtClean="0">
                            <a:latin typeface="Cambria Math" panose="02040503050406030204" pitchFamily="18" charset="0"/>
                          </a:rPr>
                          <m:t>0</m:t>
                        </m:r>
                      </m:sub>
                    </m:sSub>
                    <m:r>
                      <a:rPr lang="es-ES" sz="1600" b="0" i="1" smtClean="0">
                        <a:latin typeface="Cambria Math" panose="02040503050406030204" pitchFamily="18" charset="0"/>
                      </a:rPr>
                      <m:t>= </m:t>
                    </m:r>
                  </m:oMath>
                </a14:m>
                <a:r>
                  <a:rPr lang="en-US" sz="1600"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609600" y="746545"/>
                <a:ext cx="11048999" cy="1077456"/>
              </a:xfrm>
              <a:prstGeom prst="rect">
                <a:avLst/>
              </a:prstGeom>
              <a:blipFill>
                <a:blip r:embed="rId6"/>
                <a:stretch>
                  <a:fillRect l="-276" t="-1695" b="-62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CFDBBA6B-3646-055F-7A9C-EE01830137BE}"/>
                  </a:ext>
                </a:extLst>
              </p:cNvPr>
              <p:cNvSpPr txBox="1"/>
              <p:nvPr/>
            </p:nvSpPr>
            <p:spPr>
              <a:xfrm>
                <a:off x="745873" y="5285958"/>
                <a:ext cx="2334429" cy="769441"/>
              </a:xfrm>
              <a:prstGeom prst="rect">
                <a:avLst/>
              </a:prstGeom>
              <a:solidFill>
                <a:schemeClr val="bg1">
                  <a:lumMod val="95000"/>
                </a:schemeClr>
              </a:solidFill>
              <a:ln w="28575">
                <a:solidFill>
                  <a:srgbClr val="E0700D"/>
                </a:solidFill>
              </a:ln>
            </p:spPr>
            <p:txBody>
              <a:bodyPr wrap="square" rtlCol="0">
                <a:spAutoFit/>
              </a:bodyPr>
              <a:lstStyle/>
              <a:p>
                <a:pPr algn="just"/>
                <a:endParaRPr lang="es-ES" sz="1400" dirty="0">
                  <a:latin typeface="Cambria Math" panose="02040503050406030204" pitchFamily="18" charset="0"/>
                </a:endParaRPr>
              </a:p>
              <a:p>
                <a:pPr algn="just"/>
                <a14:m>
                  <m:oMathPara xmlns:m="http://schemas.openxmlformats.org/officeDocument/2006/math">
                    <m:oMathParaPr>
                      <m:jc m:val="center"/>
                    </m:oMathParaPr>
                    <m:oMath xmlns:m="http://schemas.openxmlformats.org/officeDocument/2006/math">
                      <m:r>
                        <m:rPr>
                          <m:sty m:val="p"/>
                        </m:rPr>
                        <a:rPr lang="es-ES">
                          <a:latin typeface="Cambria Math" panose="02040503050406030204" pitchFamily="18" charset="0"/>
                        </a:rPr>
                        <m:t>ΔL</m:t>
                      </m:r>
                      <m:r>
                        <a:rPr lang="es-ES" b="0" i="1" smtClean="0">
                          <a:latin typeface="Cambria Math" panose="02040503050406030204" pitchFamily="18" charset="0"/>
                        </a:rPr>
                        <m:t>=14.026 </m:t>
                      </m:r>
                      <m:r>
                        <m:rPr>
                          <m:sty m:val="p"/>
                        </m:rPr>
                        <a:rPr lang="el-GR" b="0" i="1" smtClean="0">
                          <a:latin typeface="Cambria Math" panose="02040503050406030204" pitchFamily="18" charset="0"/>
                        </a:rPr>
                        <m:t>μ</m:t>
                      </m:r>
                      <m:r>
                        <a:rPr lang="es-ES" b="0" i="1" smtClean="0">
                          <a:latin typeface="Cambria Math" panose="02040503050406030204" pitchFamily="18" charset="0"/>
                        </a:rPr>
                        <m:t>𝑚</m:t>
                      </m:r>
                    </m:oMath>
                  </m:oMathPara>
                </a14:m>
                <a:endParaRPr lang="en-US" sz="16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CFDBBA6B-3646-055F-7A9C-EE01830137BE}"/>
                  </a:ext>
                </a:extLst>
              </p:cNvPr>
              <p:cNvSpPr txBox="1">
                <a:spLocks noRot="1" noChangeAspect="1" noMove="1" noResize="1" noEditPoints="1" noAdjustHandles="1" noChangeArrowheads="1" noChangeShapeType="1" noTextEdit="1"/>
              </p:cNvSpPr>
              <p:nvPr/>
            </p:nvSpPr>
            <p:spPr>
              <a:xfrm>
                <a:off x="745873" y="5285958"/>
                <a:ext cx="2334429" cy="769441"/>
              </a:xfrm>
              <a:prstGeom prst="rect">
                <a:avLst/>
              </a:prstGeom>
              <a:blipFill>
                <a:blip r:embed="rId7"/>
                <a:stretch>
                  <a:fillRect/>
                </a:stretch>
              </a:blipFill>
              <a:ln w="28575">
                <a:solidFill>
                  <a:srgbClr val="E0700D"/>
                </a:solidFill>
              </a:ln>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10" name="Imagen 9">
            <a:extLst>
              <a:ext uri="{FF2B5EF4-FFF2-40B4-BE49-F238E27FC236}">
                <a16:creationId xmlns:a16="http://schemas.microsoft.com/office/drawing/2014/main" id="{07A4328D-08FF-B9FC-443B-1C07DC0F9E9A}"/>
              </a:ext>
            </a:extLst>
          </p:cNvPr>
          <p:cNvPicPr>
            <a:picLocks noChangeAspect="1"/>
          </p:cNvPicPr>
          <p:nvPr/>
        </p:nvPicPr>
        <p:blipFill>
          <a:blip r:embed="rId8"/>
          <a:stretch>
            <a:fillRect/>
          </a:stretch>
        </p:blipFill>
        <p:spPr>
          <a:xfrm>
            <a:off x="745873" y="2033324"/>
            <a:ext cx="5213854" cy="3043311"/>
          </a:xfrm>
          <a:prstGeom prst="rect">
            <a:avLst/>
          </a:prstGeom>
        </p:spPr>
      </p:pic>
      <p:pic>
        <p:nvPicPr>
          <p:cNvPr id="12" name="Imagen 11">
            <a:extLst>
              <a:ext uri="{FF2B5EF4-FFF2-40B4-BE49-F238E27FC236}">
                <a16:creationId xmlns:a16="http://schemas.microsoft.com/office/drawing/2014/main" id="{A35FBD61-2A25-FB5D-54C5-EAE21910EAB3}"/>
              </a:ext>
            </a:extLst>
          </p:cNvPr>
          <p:cNvPicPr>
            <a:picLocks noChangeAspect="1"/>
          </p:cNvPicPr>
          <p:nvPr/>
        </p:nvPicPr>
        <p:blipFill>
          <a:blip r:embed="rId9"/>
          <a:stretch>
            <a:fillRect/>
          </a:stretch>
        </p:blipFill>
        <p:spPr>
          <a:xfrm>
            <a:off x="6532874" y="1981200"/>
            <a:ext cx="4899936" cy="3932047"/>
          </a:xfrm>
          <a:prstGeom prst="rect">
            <a:avLst/>
          </a:prstGeom>
        </p:spPr>
      </p:pic>
    </p:spTree>
    <p:extLst>
      <p:ext uri="{BB962C8B-B14F-4D97-AF65-F5344CB8AC3E}">
        <p14:creationId xmlns:p14="http://schemas.microsoft.com/office/powerpoint/2010/main" val="2337098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0" y="10668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dirty="0"/>
            </a:br>
            <a:r>
              <a:rPr lang="en-US" dirty="0"/>
              <a:t>In order to implement the SAX model, take as example the following lines:</a:t>
            </a:r>
          </a:p>
          <a:p>
            <a:endParaRPr lang="en-US" dirty="0"/>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 = </a:t>
            </a:r>
            <a:r>
              <a:rPr lang="es-ES" sz="1400" b="0" dirty="0" err="1">
                <a:effectLst/>
                <a:latin typeface="Courier New" panose="02070309020205020404" pitchFamily="49" charset="0"/>
              </a:rPr>
              <a:t>mzi</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coup_a</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wvg_d</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l_d</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wvg_u</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l_u</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coup_b</a:t>
            </a:r>
            <a:r>
              <a:rPr lang="es-ES" sz="1400" b="0" dirty="0">
                <a:effectLst/>
                <a:latin typeface="Courier New" panose="02070309020205020404" pitchFamily="49" charset="0"/>
              </a:rPr>
              <a:t> = ... )</a:t>
            </a:r>
          </a:p>
          <a:p>
            <a:pPr lvl="2">
              <a:lnSpc>
                <a:spcPts val="1425"/>
              </a:lnSpc>
            </a:pPr>
            <a:br>
              <a:rPr lang="es-ES" sz="1400" b="0" dirty="0">
                <a:effectLst/>
                <a:latin typeface="Courier New" panose="02070309020205020404" pitchFamily="49" charset="0"/>
              </a:rPr>
            </a:br>
            <a:r>
              <a:rPr lang="es-ES" sz="1400" b="0" dirty="0">
                <a:effectLst/>
                <a:latin typeface="Courier New" panose="02070309020205020404" pitchFamily="49" charset="0"/>
              </a:rPr>
              <a:t>    H00 =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["in0", "out0"]</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CA4A2D6E-5993-52B3-D251-1ADF2B0C8355}"/>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transfer function employing SAX modeling and include the comparative plot of the models)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6436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4526AD-3394-1A55-C96E-57132B569994}"/>
              </a:ext>
            </a:extLst>
          </p:cNvPr>
          <p:cNvSpPr>
            <a:spLocks noGrp="1"/>
          </p:cNvSpPr>
          <p:nvPr>
            <p:ph type="title"/>
          </p:nvPr>
        </p:nvSpPr>
        <p:spPr/>
        <p:txBody>
          <a:bodyPr/>
          <a:lstStyle/>
          <a:p>
            <a:r>
              <a:rPr lang="es-ES" dirty="0"/>
              <a:t>3. SAX </a:t>
            </a:r>
            <a:r>
              <a:rPr lang="es-ES" dirty="0" err="1"/>
              <a:t>implementation</a:t>
            </a:r>
            <a:r>
              <a:rPr lang="es-ES" dirty="0"/>
              <a:t> vs. </a:t>
            </a:r>
            <a:r>
              <a:rPr lang="es-ES" dirty="0" err="1"/>
              <a:t>Mathematical</a:t>
            </a:r>
            <a:r>
              <a:rPr lang="es-ES" dirty="0"/>
              <a:t> </a:t>
            </a:r>
            <a:r>
              <a:rPr lang="es-ES" dirty="0" err="1"/>
              <a:t>formulation</a:t>
            </a:r>
            <a:r>
              <a:rPr lang="es-ES" dirty="0"/>
              <a:t> </a:t>
            </a:r>
          </a:p>
        </p:txBody>
      </p:sp>
      <p:sp>
        <p:nvSpPr>
          <p:cNvPr id="3" name="Marcador de texto 2">
            <a:extLst>
              <a:ext uri="{FF2B5EF4-FFF2-40B4-BE49-F238E27FC236}">
                <a16:creationId xmlns:a16="http://schemas.microsoft.com/office/drawing/2014/main" id="{846CCB11-F7D1-239A-44C5-2133F337CF38}"/>
              </a:ext>
            </a:extLst>
          </p:cNvPr>
          <p:cNvSpPr>
            <a:spLocks noGrp="1"/>
          </p:cNvSpPr>
          <p:nvPr>
            <p:ph type="body" idx="1"/>
          </p:nvPr>
        </p:nvSpPr>
        <p:spPr>
          <a:xfrm>
            <a:off x="762000" y="5009718"/>
            <a:ext cx="10972800" cy="553998"/>
          </a:xfrm>
        </p:spPr>
        <p:txBody>
          <a:bodyPr/>
          <a:lstStyle/>
          <a:p>
            <a:r>
              <a:rPr lang="es-ES" dirty="0" err="1"/>
              <a:t>Ciñiendonos</a:t>
            </a:r>
            <a:r>
              <a:rPr lang="es-ES" dirty="0"/>
              <a:t> a los resultados podemos concluir que la implementación SAX funciona correctamente. No obstante, voy a hacer más simulaciones para comprobar su comportamiento en otras configuraciones. </a:t>
            </a:r>
          </a:p>
        </p:txBody>
      </p:sp>
      <p:sp>
        <p:nvSpPr>
          <p:cNvPr id="4" name="Marcador de pie de página 3">
            <a:extLst>
              <a:ext uri="{FF2B5EF4-FFF2-40B4-BE49-F238E27FC236}">
                <a16:creationId xmlns:a16="http://schemas.microsoft.com/office/drawing/2014/main" id="{F3C6DC7F-6B79-E076-6A58-DA56E43F3CB7}"/>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F281AEB2-6D3D-B0FF-C300-F339568B71C3}"/>
              </a:ext>
            </a:extLst>
          </p:cNvPr>
          <p:cNvSpPr>
            <a:spLocks noGrp="1"/>
          </p:cNvSpPr>
          <p:nvPr>
            <p:ph type="sldNum" sz="quarter" idx="7"/>
          </p:nvPr>
        </p:nvSpPr>
        <p:spPr/>
        <p:txBody>
          <a:bodyPr/>
          <a:lstStyle/>
          <a:p>
            <a:fld id="{B6F15528-21DE-4FAA-801E-634DDDAF4B2B}" type="slidenum">
              <a:rPr lang="es-ES" smtClean="0"/>
              <a:t>9</a:t>
            </a:fld>
            <a:endParaRPr lang="es-ES"/>
          </a:p>
        </p:txBody>
      </p:sp>
      <p:pic>
        <p:nvPicPr>
          <p:cNvPr id="6" name="Imagen 5" descr="Gráfico&#10;&#10;El contenido generado por IA puede ser incorrecto.">
            <a:extLst>
              <a:ext uri="{FF2B5EF4-FFF2-40B4-BE49-F238E27FC236}">
                <a16:creationId xmlns:a16="http://schemas.microsoft.com/office/drawing/2014/main" id="{51C5DFB2-8E47-6AF7-788B-F2DD5D4295F7}"/>
              </a:ext>
            </a:extLst>
          </p:cNvPr>
          <p:cNvPicPr>
            <a:picLocks noChangeAspect="1"/>
          </p:cNvPicPr>
          <p:nvPr/>
        </p:nvPicPr>
        <p:blipFill>
          <a:blip r:embed="rId2"/>
          <a:stretch>
            <a:fillRect/>
          </a:stretch>
        </p:blipFill>
        <p:spPr>
          <a:xfrm>
            <a:off x="6248400" y="1309835"/>
            <a:ext cx="4324140" cy="3469988"/>
          </a:xfrm>
          <a:prstGeom prst="rect">
            <a:avLst/>
          </a:prstGeom>
        </p:spPr>
      </p:pic>
      <p:sp>
        <p:nvSpPr>
          <p:cNvPr id="9" name="Título 1">
            <a:extLst>
              <a:ext uri="{FF2B5EF4-FFF2-40B4-BE49-F238E27FC236}">
                <a16:creationId xmlns:a16="http://schemas.microsoft.com/office/drawing/2014/main" id="{0AD93CDF-7972-7E78-17BF-605A32E561D8}"/>
              </a:ext>
            </a:extLst>
          </p:cNvPr>
          <p:cNvSpPr txBox="1">
            <a:spLocks/>
          </p:cNvSpPr>
          <p:nvPr/>
        </p:nvSpPr>
        <p:spPr>
          <a:xfrm>
            <a:off x="838200" y="731787"/>
            <a:ext cx="1099185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dirty="0"/>
              <a:t>3.1 </a:t>
            </a:r>
            <a:r>
              <a:rPr lang="es-ES" b="0" kern="0" dirty="0" err="1"/>
              <a:t>Balanced</a:t>
            </a:r>
            <a:r>
              <a:rPr lang="es-ES" b="0" kern="0" dirty="0"/>
              <a:t> </a:t>
            </a:r>
            <a:r>
              <a:rPr lang="es-ES" b="0" kern="0" dirty="0" err="1"/>
              <a:t>configuration</a:t>
            </a:r>
            <a:endParaRPr lang="es-ES" kern="0" dirty="0"/>
          </a:p>
        </p:txBody>
      </p:sp>
      <p:pic>
        <p:nvPicPr>
          <p:cNvPr id="11" name="Imagen 10">
            <a:extLst>
              <a:ext uri="{FF2B5EF4-FFF2-40B4-BE49-F238E27FC236}">
                <a16:creationId xmlns:a16="http://schemas.microsoft.com/office/drawing/2014/main" id="{39DD8790-C511-4BC2-B241-B64BC48F5A8A}"/>
              </a:ext>
            </a:extLst>
          </p:cNvPr>
          <p:cNvPicPr>
            <a:picLocks noChangeAspect="1"/>
          </p:cNvPicPr>
          <p:nvPr/>
        </p:nvPicPr>
        <p:blipFill>
          <a:blip r:embed="rId3"/>
          <a:stretch>
            <a:fillRect/>
          </a:stretch>
        </p:blipFill>
        <p:spPr>
          <a:xfrm>
            <a:off x="990600" y="1289646"/>
            <a:ext cx="4324141" cy="3469990"/>
          </a:xfrm>
          <a:prstGeom prst="rect">
            <a:avLst/>
          </a:prstGeom>
        </p:spPr>
      </p:pic>
    </p:spTree>
    <p:extLst>
      <p:ext uri="{BB962C8B-B14F-4D97-AF65-F5344CB8AC3E}">
        <p14:creationId xmlns:p14="http://schemas.microsoft.com/office/powerpoint/2010/main" val="251436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0C38A44-0BD0-C493-6791-0633A243EF4C}"/>
              </a:ext>
            </a:extLst>
          </p:cNvPr>
          <p:cNvSpPr>
            <a:spLocks noGrp="1"/>
          </p:cNvSpPr>
          <p:nvPr>
            <p:ph type="body" idx="1"/>
          </p:nvPr>
        </p:nvSpPr>
        <p:spPr>
          <a:xfrm>
            <a:off x="762000" y="5449747"/>
            <a:ext cx="10972800" cy="553998"/>
          </a:xfrm>
        </p:spPr>
        <p:txBody>
          <a:bodyPr/>
          <a:lstStyle/>
          <a:p>
            <a:r>
              <a:rPr lang="es-ES" dirty="0"/>
              <a:t>Con esta simulación se comprueba que la matriz de transferencia de un MZI se modela de igual manera con la implementación matemática que mediante SAX. </a:t>
            </a:r>
          </a:p>
        </p:txBody>
      </p:sp>
      <p:sp>
        <p:nvSpPr>
          <p:cNvPr id="4" name="Marcador de pie de página 3">
            <a:extLst>
              <a:ext uri="{FF2B5EF4-FFF2-40B4-BE49-F238E27FC236}">
                <a16:creationId xmlns:a16="http://schemas.microsoft.com/office/drawing/2014/main" id="{15FC967C-6579-2313-3B4B-C3ECDF3B647E}"/>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E21F52A9-902A-E2C1-43F5-38DAC8DA37E1}"/>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6" name="Título 1">
            <a:extLst>
              <a:ext uri="{FF2B5EF4-FFF2-40B4-BE49-F238E27FC236}">
                <a16:creationId xmlns:a16="http://schemas.microsoft.com/office/drawing/2014/main" id="{A8408FCE-8E42-7F12-1F72-0BAF265C7AD5}"/>
              </a:ext>
            </a:extLst>
          </p:cNvPr>
          <p:cNvSpPr>
            <a:spLocks noGrp="1"/>
          </p:cNvSpPr>
          <p:nvPr>
            <p:ph type="title"/>
          </p:nvPr>
        </p:nvSpPr>
        <p:spPr>
          <a:xfrm>
            <a:off x="590550" y="206375"/>
            <a:ext cx="10991850" cy="307975"/>
          </a:xfrm>
        </p:spPr>
        <p:txBody>
          <a:bodyPr/>
          <a:lstStyle/>
          <a:p>
            <a:r>
              <a:rPr lang="es-ES" dirty="0"/>
              <a:t>3. SAX </a:t>
            </a:r>
            <a:r>
              <a:rPr lang="es-ES" dirty="0" err="1"/>
              <a:t>implementation</a:t>
            </a:r>
            <a:r>
              <a:rPr lang="es-ES" dirty="0"/>
              <a:t> vs. </a:t>
            </a:r>
            <a:r>
              <a:rPr lang="es-ES" dirty="0" err="1"/>
              <a:t>Mathematical</a:t>
            </a:r>
            <a:r>
              <a:rPr lang="es-ES" dirty="0"/>
              <a:t> </a:t>
            </a:r>
            <a:r>
              <a:rPr lang="es-ES" dirty="0" err="1"/>
              <a:t>formulation</a:t>
            </a:r>
            <a:r>
              <a:rPr lang="es-ES" dirty="0"/>
              <a:t> </a:t>
            </a:r>
          </a:p>
        </p:txBody>
      </p:sp>
      <p:sp>
        <p:nvSpPr>
          <p:cNvPr id="7" name="Título 1">
            <a:extLst>
              <a:ext uri="{FF2B5EF4-FFF2-40B4-BE49-F238E27FC236}">
                <a16:creationId xmlns:a16="http://schemas.microsoft.com/office/drawing/2014/main" id="{0B5A246A-4BF8-C54F-B89A-7F911B820B52}"/>
              </a:ext>
            </a:extLst>
          </p:cNvPr>
          <p:cNvSpPr txBox="1">
            <a:spLocks/>
          </p:cNvSpPr>
          <p:nvPr/>
        </p:nvSpPr>
        <p:spPr>
          <a:xfrm>
            <a:off x="590550" y="694097"/>
            <a:ext cx="1099185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dirty="0"/>
              <a:t>3.1 </a:t>
            </a:r>
            <a:r>
              <a:rPr lang="es-ES" b="0" kern="0" dirty="0" err="1"/>
              <a:t>Unbalanced</a:t>
            </a:r>
            <a:r>
              <a:rPr lang="es-ES" b="0" kern="0" dirty="0"/>
              <a:t> </a:t>
            </a:r>
            <a:r>
              <a:rPr lang="es-ES" b="0" kern="0" dirty="0" err="1"/>
              <a:t>configuration</a:t>
            </a:r>
            <a:r>
              <a:rPr lang="es-ES" b="0" kern="0" dirty="0"/>
              <a:t>:</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BB714241-CC8F-11C3-3047-82982551225A}"/>
                  </a:ext>
                </a:extLst>
              </p:cNvPr>
              <p:cNvSpPr txBox="1"/>
              <p:nvPr/>
            </p:nvSpPr>
            <p:spPr>
              <a:xfrm>
                <a:off x="1788562" y="1148927"/>
                <a:ext cx="2057400" cy="381515"/>
              </a:xfrm>
              <a:prstGeom prst="rect">
                <a:avLst/>
              </a:prstGeom>
              <a:noFill/>
            </p:spPr>
            <p:txBody>
              <a:bodyPr wrap="square" rtlCol="0">
                <a:spAutoFit/>
              </a:bodyPr>
              <a:lstStyle/>
              <a:p>
                <a14:m>
                  <m:oMath xmlns:m="http://schemas.openxmlformats.org/officeDocument/2006/math">
                    <m:r>
                      <m:rPr>
                        <m:sty m:val="p"/>
                      </m:rPr>
                      <a:rPr lang="es-ES" i="1" smtClean="0">
                        <a:latin typeface="Cambria Math" panose="02040503050406030204" pitchFamily="18" charset="0"/>
                      </a:rPr>
                      <m:t>α</m:t>
                    </m:r>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oMath>
                </a14:m>
                <a:r>
                  <a:rPr lang="en-US" kern="0" dirty="0">
                    <a:solidFill>
                      <a:sysClr val="windowText" lastClr="000000"/>
                    </a:solidFill>
                  </a:rPr>
                  <a:t> and </a:t>
                </a:r>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γ</m:t>
                        </m:r>
                      </m:e>
                      <m:sub>
                        <m:r>
                          <a:rPr lang="es-ES" b="0" i="1" smtClean="0">
                            <a:latin typeface="Cambria Math" panose="02040503050406030204" pitchFamily="18" charset="0"/>
                          </a:rPr>
                          <m:t>𝑎</m:t>
                        </m:r>
                        <m:r>
                          <a:rPr lang="es-ES" b="0" i="1" smtClean="0">
                            <a:latin typeface="Cambria Math" panose="02040503050406030204" pitchFamily="18" charset="0"/>
                          </a:rPr>
                          <m:t>, </m:t>
                        </m:r>
                        <m:r>
                          <a:rPr lang="es-ES" b="0" i="1"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oMath>
                </a14:m>
                <a:endParaRPr lang="es-ES" dirty="0"/>
              </a:p>
            </p:txBody>
          </p:sp>
        </mc:Choice>
        <mc:Fallback xmlns="">
          <p:sp>
            <p:nvSpPr>
              <p:cNvPr id="13" name="CuadroTexto 12">
                <a:extLst>
                  <a:ext uri="{FF2B5EF4-FFF2-40B4-BE49-F238E27FC236}">
                    <a16:creationId xmlns:a16="http://schemas.microsoft.com/office/drawing/2014/main" id="{BB714241-CC8F-11C3-3047-82982551225A}"/>
                  </a:ext>
                </a:extLst>
              </p:cNvPr>
              <p:cNvSpPr txBox="1">
                <a:spLocks noRot="1" noChangeAspect="1" noMove="1" noResize="1" noEditPoints="1" noAdjustHandles="1" noChangeArrowheads="1" noChangeShapeType="1" noTextEdit="1"/>
              </p:cNvSpPr>
              <p:nvPr/>
            </p:nvSpPr>
            <p:spPr>
              <a:xfrm>
                <a:off x="1788562" y="1148927"/>
                <a:ext cx="2057400" cy="381515"/>
              </a:xfrm>
              <a:prstGeom prst="rect">
                <a:avLst/>
              </a:prstGeom>
              <a:blipFill>
                <a:blip r:embed="rId2"/>
                <a:stretch>
                  <a:fillRect t="-6349" b="-2222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DBA555CE-18F3-9450-2D4E-37945086D017}"/>
                  </a:ext>
                </a:extLst>
              </p:cNvPr>
              <p:cNvSpPr txBox="1"/>
              <p:nvPr/>
            </p:nvSpPr>
            <p:spPr>
              <a:xfrm>
                <a:off x="3693562" y="1148859"/>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m:rPr>
                            <m:sty m:val="p"/>
                          </m:rPr>
                          <a:rPr lang="es-ES" i="1" smtClean="0">
                            <a:latin typeface="Cambria Math" panose="02040503050406030204" pitchFamily="18" charset="0"/>
                          </a:rPr>
                          <m:t>k</m:t>
                        </m:r>
                      </m:e>
                      <m:sub>
                        <m:r>
                          <a:rPr lang="es-ES" b="0" i="1" smtClean="0">
                            <a:latin typeface="Cambria Math" panose="02040503050406030204" pitchFamily="18" charset="0"/>
                          </a:rPr>
                          <m:t>𝑎</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0" smtClean="0">
                        <a:latin typeface="Cambria Math" panose="02040503050406030204" pitchFamily="18" charset="0"/>
                        <a:ea typeface="Cambria Math" panose="02040503050406030204" pitchFamily="18" charset="0"/>
                      </a:rPr>
                      <m:t>.5</m:t>
                    </m:r>
                  </m:oMath>
                </a14:m>
                <a:r>
                  <a:rPr lang="en-US" kern="0" dirty="0">
                    <a:solidFill>
                      <a:sysClr val="windowText" lastClr="000000"/>
                    </a:solidFill>
                  </a:rPr>
                  <a:t> and </a:t>
                </a:r>
                <a14:m>
                  <m:oMath xmlns:m="http://schemas.openxmlformats.org/officeDocument/2006/math">
                    <m:sSub>
                      <m:sSubPr>
                        <m:ctrlPr>
                          <a:rPr lang="es-ES" b="0" i="1" dirty="0" smtClean="0">
                            <a:latin typeface="Cambria Math" panose="02040503050406030204" pitchFamily="18" charset="0"/>
                          </a:rPr>
                        </m:ctrlPr>
                      </m:sSubPr>
                      <m:e>
                        <m:r>
                          <m:rPr>
                            <m:sty m:val="p"/>
                          </m:rPr>
                          <a:rPr lang="es-ES" i="1" dirty="0">
                            <a:latin typeface="Cambria Math" panose="02040503050406030204" pitchFamily="18" charset="0"/>
                          </a:rPr>
                          <m:t>k</m:t>
                        </m:r>
                      </m:e>
                      <m:sub>
                        <m:r>
                          <a:rPr lang="es-ES" b="0" i="1" dirty="0" smtClean="0">
                            <a:latin typeface="Cambria Math" panose="02040503050406030204" pitchFamily="18" charset="0"/>
                          </a:rPr>
                          <m:t>𝑏</m:t>
                        </m:r>
                      </m:sub>
                    </m:sSub>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.5 </m:t>
                    </m:r>
                  </m:oMath>
                </a14:m>
                <a:endParaRPr lang="es-ES" dirty="0"/>
              </a:p>
            </p:txBody>
          </p:sp>
        </mc:Choice>
        <mc:Fallback xmlns="">
          <p:sp>
            <p:nvSpPr>
              <p:cNvPr id="14" name="CuadroTexto 13">
                <a:extLst>
                  <a:ext uri="{FF2B5EF4-FFF2-40B4-BE49-F238E27FC236}">
                    <a16:creationId xmlns:a16="http://schemas.microsoft.com/office/drawing/2014/main" id="{DBA555CE-18F3-9450-2D4E-37945086D017}"/>
                  </a:ext>
                </a:extLst>
              </p:cNvPr>
              <p:cNvSpPr txBox="1">
                <a:spLocks noRot="1" noChangeAspect="1" noMove="1" noResize="1" noEditPoints="1" noAdjustHandles="1" noChangeArrowheads="1" noChangeShapeType="1" noTextEdit="1"/>
              </p:cNvSpPr>
              <p:nvPr/>
            </p:nvSpPr>
            <p:spPr>
              <a:xfrm>
                <a:off x="3693562" y="1148859"/>
                <a:ext cx="2743200" cy="369332"/>
              </a:xfrm>
              <a:prstGeom prst="rect">
                <a:avLst/>
              </a:prstGeom>
              <a:blipFill>
                <a:blip r:embed="rId3"/>
                <a:stretch>
                  <a:fillRect t="-8197"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B2D5274F-8BEB-1C35-C0B6-5F678D786F43}"/>
                  </a:ext>
                </a:extLst>
              </p:cNvPr>
              <p:cNvSpPr txBox="1"/>
              <p:nvPr/>
            </p:nvSpPr>
            <p:spPr>
              <a:xfrm>
                <a:off x="5562600" y="1119018"/>
                <a:ext cx="2743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r>
                            <a:rPr lang="es-ES" b="0" i="1" smtClean="0">
                              <a:latin typeface="Cambria Math" panose="02040503050406030204" pitchFamily="18" charset="0"/>
                            </a:rPr>
                            <m:t>_</m:t>
                          </m:r>
                          <m:r>
                            <a:rPr lang="es-ES" b="0" i="1" smtClean="0">
                              <a:latin typeface="Cambria Math" panose="02040503050406030204" pitchFamily="18" charset="0"/>
                            </a:rPr>
                            <m:t>𝑒𝑓𝑓</m:t>
                          </m:r>
                        </m:e>
                        <m:sub>
                          <m:r>
                            <a:rPr lang="es-ES" b="0" i="1" smtClean="0">
                              <a:latin typeface="Cambria Math" panose="02040503050406030204" pitchFamily="18" charset="0"/>
                            </a:rPr>
                            <m:t>𝑢</m:t>
                          </m:r>
                          <m:r>
                            <a:rPr lang="es-ES" b="0" i="1" smtClean="0">
                              <a:latin typeface="Cambria Math" panose="02040503050406030204" pitchFamily="18" charset="0"/>
                            </a:rPr>
                            <m:t> </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𝑛</m:t>
                          </m:r>
                          <m:r>
                            <a:rPr lang="es-ES" i="1">
                              <a:latin typeface="Cambria Math" panose="02040503050406030204" pitchFamily="18" charset="0"/>
                            </a:rPr>
                            <m:t>_</m:t>
                          </m:r>
                          <m:r>
                            <a:rPr lang="es-ES" i="1">
                              <a:latin typeface="Cambria Math" panose="02040503050406030204" pitchFamily="18" charset="0"/>
                            </a:rPr>
                            <m:t>𝑒𝑓𝑓</m:t>
                          </m:r>
                        </m:e>
                        <m:sub>
                          <m:r>
                            <a:rPr lang="es-ES" b="0" i="1" smtClean="0">
                              <a:latin typeface="Cambria Math" panose="02040503050406030204" pitchFamily="18" charset="0"/>
                            </a:rPr>
                            <m:t>𝑙</m:t>
                          </m:r>
                        </m:sub>
                      </m:sSub>
                    </m:oMath>
                  </m:oMathPara>
                </a14:m>
                <a:endParaRPr lang="es-ES" dirty="0"/>
              </a:p>
            </p:txBody>
          </p:sp>
        </mc:Choice>
        <mc:Fallback xmlns="">
          <p:sp>
            <p:nvSpPr>
              <p:cNvPr id="15" name="CuadroTexto 14">
                <a:extLst>
                  <a:ext uri="{FF2B5EF4-FFF2-40B4-BE49-F238E27FC236}">
                    <a16:creationId xmlns:a16="http://schemas.microsoft.com/office/drawing/2014/main" id="{B2D5274F-8BEB-1C35-C0B6-5F678D786F43}"/>
                  </a:ext>
                </a:extLst>
              </p:cNvPr>
              <p:cNvSpPr txBox="1">
                <a:spLocks noRot="1" noChangeAspect="1" noMove="1" noResize="1" noEditPoints="1" noAdjustHandles="1" noChangeArrowheads="1" noChangeShapeType="1" noTextEdit="1"/>
              </p:cNvSpPr>
              <p:nvPr/>
            </p:nvSpPr>
            <p:spPr>
              <a:xfrm>
                <a:off x="5562600" y="1119018"/>
                <a:ext cx="2743200" cy="369332"/>
              </a:xfrm>
              <a:prstGeom prst="rect">
                <a:avLst/>
              </a:prstGeom>
              <a:blipFill>
                <a:blip r:embed="rId4"/>
                <a:stretch>
                  <a:fillRect b="-1333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ACEE59A9-FEB2-FCAC-B250-F9CD1EA3139A}"/>
                  </a:ext>
                </a:extLst>
              </p:cNvPr>
              <p:cNvSpPr txBox="1"/>
              <p:nvPr/>
            </p:nvSpPr>
            <p:spPr>
              <a:xfrm>
                <a:off x="7771331" y="1136608"/>
                <a:ext cx="2743200" cy="369332"/>
              </a:xfrm>
              <a:prstGeom prst="rect">
                <a:avLst/>
              </a:prstGeom>
              <a:noFill/>
            </p:spPr>
            <p:txBody>
              <a:bodyPr wrap="square" rtlCol="0">
                <a:spAutoFit/>
              </a:bodyPr>
              <a:lstStyle/>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𝑢</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 5 </m:t>
                        </m:r>
                        <m:r>
                          <a:rPr lang="es-ES" b="0" i="1" smtClean="0">
                            <a:latin typeface="Cambria Math" panose="02040503050406030204" pitchFamily="18" charset="0"/>
                          </a:rPr>
                          <m:t>𝑎𝑛𝑑</m:t>
                        </m:r>
                        <m:r>
                          <a:rPr lang="es-ES" b="0" i="1" smtClean="0">
                            <a:latin typeface="Cambria Math" panose="02040503050406030204" pitchFamily="18" charset="0"/>
                          </a:rPr>
                          <m:t> </m:t>
                        </m:r>
                        <m:r>
                          <a:rPr lang="es-ES" b="0" i="1" smtClean="0">
                            <a:latin typeface="Cambria Math" panose="02040503050406030204" pitchFamily="18" charset="0"/>
                          </a:rPr>
                          <m:t>𝐿</m:t>
                        </m:r>
                      </m:e>
                      <m:sub>
                        <m:r>
                          <a:rPr lang="es-ES" b="0" i="1" smtClean="0">
                            <a:latin typeface="Cambria Math" panose="02040503050406030204" pitchFamily="18" charset="0"/>
                          </a:rPr>
                          <m:t>𝑙</m:t>
                        </m:r>
                        <m:r>
                          <a:rPr lang="es-ES" b="0" i="1" smtClean="0">
                            <a:latin typeface="Cambria Math" panose="02040503050406030204" pitchFamily="18" charset="0"/>
                          </a:rPr>
                          <m:t> </m:t>
                        </m:r>
                      </m:sub>
                    </m:sSub>
                  </m:oMath>
                </a14:m>
                <a:r>
                  <a:rPr lang="es-ES" dirty="0"/>
                  <a:t> </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25 </m:t>
                    </m:r>
                    <m:r>
                      <a:rPr lang="es-ES" b="0" i="1" smtClean="0">
                        <a:latin typeface="Cambria Math" panose="02040503050406030204" pitchFamily="18" charset="0"/>
                      </a:rPr>
                      <m:t>𝑢𝑚</m:t>
                    </m:r>
                  </m:oMath>
                </a14:m>
                <a:endParaRPr lang="es-ES" dirty="0"/>
              </a:p>
            </p:txBody>
          </p:sp>
        </mc:Choice>
        <mc:Fallback xmlns="">
          <p:sp>
            <p:nvSpPr>
              <p:cNvPr id="16" name="CuadroTexto 15">
                <a:extLst>
                  <a:ext uri="{FF2B5EF4-FFF2-40B4-BE49-F238E27FC236}">
                    <a16:creationId xmlns:a16="http://schemas.microsoft.com/office/drawing/2014/main" id="{ACEE59A9-FEB2-FCAC-B250-F9CD1EA3139A}"/>
                  </a:ext>
                </a:extLst>
              </p:cNvPr>
              <p:cNvSpPr txBox="1">
                <a:spLocks noRot="1" noChangeAspect="1" noMove="1" noResize="1" noEditPoints="1" noAdjustHandles="1" noChangeArrowheads="1" noChangeShapeType="1" noTextEdit="1"/>
              </p:cNvSpPr>
              <p:nvPr/>
            </p:nvSpPr>
            <p:spPr>
              <a:xfrm>
                <a:off x="7771331" y="1136608"/>
                <a:ext cx="2743200" cy="369332"/>
              </a:xfrm>
              <a:prstGeom prst="rect">
                <a:avLst/>
              </a:prstGeom>
              <a:blipFill>
                <a:blip r:embed="rId5"/>
                <a:stretch>
                  <a:fillRect/>
                </a:stretch>
              </a:blipFill>
            </p:spPr>
            <p:txBody>
              <a:bodyPr/>
              <a:lstStyle/>
              <a:p>
                <a:r>
                  <a:rPr lang="es-ES">
                    <a:noFill/>
                  </a:rPr>
                  <a:t> </a:t>
                </a:r>
              </a:p>
            </p:txBody>
          </p:sp>
        </mc:Fallback>
      </mc:AlternateContent>
      <p:pic>
        <p:nvPicPr>
          <p:cNvPr id="19" name="Imagen 18">
            <a:extLst>
              <a:ext uri="{FF2B5EF4-FFF2-40B4-BE49-F238E27FC236}">
                <a16:creationId xmlns:a16="http://schemas.microsoft.com/office/drawing/2014/main" id="{B3A88F85-D78E-C636-D9CA-D4625FA818EA}"/>
              </a:ext>
            </a:extLst>
          </p:cNvPr>
          <p:cNvPicPr>
            <a:picLocks noChangeAspect="1"/>
          </p:cNvPicPr>
          <p:nvPr/>
        </p:nvPicPr>
        <p:blipFill>
          <a:blip r:embed="rId6"/>
          <a:stretch>
            <a:fillRect/>
          </a:stretch>
        </p:blipFill>
        <p:spPr>
          <a:xfrm>
            <a:off x="6400800" y="1758133"/>
            <a:ext cx="5181600" cy="3660913"/>
          </a:xfrm>
          <a:prstGeom prst="rect">
            <a:avLst/>
          </a:prstGeom>
        </p:spPr>
      </p:pic>
      <p:pic>
        <p:nvPicPr>
          <p:cNvPr id="21" name="Imagen 20">
            <a:extLst>
              <a:ext uri="{FF2B5EF4-FFF2-40B4-BE49-F238E27FC236}">
                <a16:creationId xmlns:a16="http://schemas.microsoft.com/office/drawing/2014/main" id="{8EB63380-0D25-879A-9C42-F5C3FABF715D}"/>
              </a:ext>
            </a:extLst>
          </p:cNvPr>
          <p:cNvPicPr>
            <a:picLocks noChangeAspect="1"/>
          </p:cNvPicPr>
          <p:nvPr/>
        </p:nvPicPr>
        <p:blipFill>
          <a:blip r:embed="rId7"/>
          <a:stretch>
            <a:fillRect/>
          </a:stretch>
        </p:blipFill>
        <p:spPr>
          <a:xfrm>
            <a:off x="914400" y="1759047"/>
            <a:ext cx="4648200" cy="3572519"/>
          </a:xfrm>
          <a:prstGeom prst="rect">
            <a:avLst/>
          </a:prstGeom>
        </p:spPr>
      </p:pic>
    </p:spTree>
    <p:extLst>
      <p:ext uri="{BB962C8B-B14F-4D97-AF65-F5344CB8AC3E}">
        <p14:creationId xmlns:p14="http://schemas.microsoft.com/office/powerpoint/2010/main" val="60957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0438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D8C8A9-D527-86EC-2345-6BD2DCB3FCF7}"/>
              </a:ext>
            </a:extLst>
          </p:cNvPr>
          <p:cNvSpPr>
            <a:spLocks noGrp="1"/>
          </p:cNvSpPr>
          <p:nvPr>
            <p:ph type="title"/>
          </p:nvPr>
        </p:nvSpPr>
        <p:spPr>
          <a:xfrm>
            <a:off x="609600" y="354270"/>
            <a:ext cx="10991850" cy="800219"/>
          </a:xfrm>
        </p:spPr>
        <p:txBody>
          <a:bodyPr/>
          <a:lstStyle/>
          <a:p>
            <a:r>
              <a:rPr lang="en-US" sz="1600" dirty="0"/>
              <a:t>Assessment 4. </a:t>
            </a:r>
            <a:r>
              <a:rPr lang="en-US" sz="1600" b="0" dirty="0"/>
              <a:t>Design an MZI for filtering at a specific wavelength. Calculate and adjust the arm lengths to configure the MZI to have a maximum transmission at 1550 nm.</a:t>
            </a:r>
            <a:br>
              <a:rPr lang="en-US" b="0" dirty="0"/>
            </a:br>
            <a:endParaRPr lang="es-ES" b="0" dirty="0"/>
          </a:p>
        </p:txBody>
      </p:sp>
      <p:sp>
        <p:nvSpPr>
          <p:cNvPr id="4" name="Marcador de pie de página 3">
            <a:extLst>
              <a:ext uri="{FF2B5EF4-FFF2-40B4-BE49-F238E27FC236}">
                <a16:creationId xmlns:a16="http://schemas.microsoft.com/office/drawing/2014/main" id="{BF76AD43-4062-3892-5DA5-F71DA7AD2C5B}"/>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7E375166-CCFE-18B6-7DC4-F58EA0F1D0C2}"/>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8" name="Marcador de texto 7">
            <a:extLst>
              <a:ext uri="{FF2B5EF4-FFF2-40B4-BE49-F238E27FC236}">
                <a16:creationId xmlns:a16="http://schemas.microsoft.com/office/drawing/2014/main" id="{B8A72C18-EFF3-320F-A0C9-5706DB097A3C}"/>
              </a:ext>
            </a:extLst>
          </p:cNvPr>
          <p:cNvSpPr>
            <a:spLocks noGrp="1"/>
          </p:cNvSpPr>
          <p:nvPr>
            <p:ph type="body" idx="1"/>
          </p:nvPr>
        </p:nvSpPr>
        <p:spPr/>
        <p:txBody>
          <a:bodyPr/>
          <a:lstStyle/>
          <a:p>
            <a:endParaRPr lang="es-ES"/>
          </a:p>
        </p:txBody>
      </p:sp>
      <p:pic>
        <p:nvPicPr>
          <p:cNvPr id="11" name="Imagen 10">
            <a:extLst>
              <a:ext uri="{FF2B5EF4-FFF2-40B4-BE49-F238E27FC236}">
                <a16:creationId xmlns:a16="http://schemas.microsoft.com/office/drawing/2014/main" id="{4E2FC3CE-FA3F-C3FD-A2DB-CB78B3856C91}"/>
              </a:ext>
            </a:extLst>
          </p:cNvPr>
          <p:cNvPicPr>
            <a:picLocks noChangeAspect="1"/>
          </p:cNvPicPr>
          <p:nvPr/>
        </p:nvPicPr>
        <p:blipFill>
          <a:blip r:embed="rId2"/>
          <a:stretch>
            <a:fillRect/>
          </a:stretch>
        </p:blipFill>
        <p:spPr>
          <a:xfrm>
            <a:off x="609601" y="927168"/>
            <a:ext cx="10991850" cy="5601509"/>
          </a:xfrm>
          <a:prstGeom prst="rect">
            <a:avLst/>
          </a:prstGeom>
        </p:spPr>
      </p:pic>
    </p:spTree>
    <p:extLst>
      <p:ext uri="{BB962C8B-B14F-4D97-AF65-F5344CB8AC3E}">
        <p14:creationId xmlns:p14="http://schemas.microsoft.com/office/powerpoint/2010/main" val="3999517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7369153-574C-AE8C-915C-C809209E35E1}"/>
              </a:ext>
            </a:extLst>
          </p:cNvPr>
          <p:cNvSpPr>
            <a:spLocks noGrp="1"/>
          </p:cNvSpPr>
          <p:nvPr>
            <p:ph type="body" idx="1"/>
          </p:nvPr>
        </p:nvSpPr>
        <p:spPr>
          <a:xfrm>
            <a:off x="533400" y="294427"/>
            <a:ext cx="10972800" cy="1107996"/>
          </a:xfrm>
        </p:spPr>
        <p:txBody>
          <a:bodyPr/>
          <a:lstStyle/>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endParaRPr lang="es-ES" dirty="0"/>
          </a:p>
        </p:txBody>
      </p:sp>
      <p:sp>
        <p:nvSpPr>
          <p:cNvPr id="4" name="Marcador de pie de página 3">
            <a:extLst>
              <a:ext uri="{FF2B5EF4-FFF2-40B4-BE49-F238E27FC236}">
                <a16:creationId xmlns:a16="http://schemas.microsoft.com/office/drawing/2014/main" id="{32F96826-729E-4211-644B-F0590373B98C}"/>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799375AF-5656-2D4D-25B2-DD89042486CD}"/>
              </a:ext>
            </a:extLst>
          </p:cNvPr>
          <p:cNvSpPr>
            <a:spLocks noGrp="1"/>
          </p:cNvSpPr>
          <p:nvPr>
            <p:ph type="sldNum" sz="quarter" idx="7"/>
          </p:nvPr>
        </p:nvSpPr>
        <p:spPr/>
        <p:txBody>
          <a:bodyPr/>
          <a:lstStyle/>
          <a:p>
            <a:fld id="{B6F15528-21DE-4FAA-801E-634DDDAF4B2B}" type="slidenum">
              <a:rPr lang="es-ES" smtClean="0"/>
              <a:t>13</a:t>
            </a:fld>
            <a:endParaRPr lang="es-ES"/>
          </a:p>
        </p:txBody>
      </p:sp>
      <p:pic>
        <p:nvPicPr>
          <p:cNvPr id="7" name="Imagen 6">
            <a:extLst>
              <a:ext uri="{FF2B5EF4-FFF2-40B4-BE49-F238E27FC236}">
                <a16:creationId xmlns:a16="http://schemas.microsoft.com/office/drawing/2014/main" id="{C03C2F84-6B41-DD5F-9425-BBD9629B7EE5}"/>
              </a:ext>
            </a:extLst>
          </p:cNvPr>
          <p:cNvPicPr>
            <a:picLocks noChangeAspect="1"/>
          </p:cNvPicPr>
          <p:nvPr/>
        </p:nvPicPr>
        <p:blipFill>
          <a:blip r:embed="rId2"/>
          <a:stretch>
            <a:fillRect/>
          </a:stretch>
        </p:blipFill>
        <p:spPr>
          <a:xfrm>
            <a:off x="4978283" y="1636359"/>
            <a:ext cx="1810003" cy="676369"/>
          </a:xfrm>
          <a:prstGeom prst="rect">
            <a:avLst/>
          </a:prstGeom>
        </p:spPr>
      </p:pic>
      <p:pic>
        <p:nvPicPr>
          <p:cNvPr id="9" name="Imagen 8">
            <a:extLst>
              <a:ext uri="{FF2B5EF4-FFF2-40B4-BE49-F238E27FC236}">
                <a16:creationId xmlns:a16="http://schemas.microsoft.com/office/drawing/2014/main" id="{7FD22810-9C1E-C7C5-092C-D86DF5467D7F}"/>
              </a:ext>
            </a:extLst>
          </p:cNvPr>
          <p:cNvPicPr>
            <a:picLocks noChangeAspect="1"/>
          </p:cNvPicPr>
          <p:nvPr/>
        </p:nvPicPr>
        <p:blipFill>
          <a:blip r:embed="rId3"/>
          <a:stretch>
            <a:fillRect/>
          </a:stretch>
        </p:blipFill>
        <p:spPr>
          <a:xfrm>
            <a:off x="1367303" y="1619418"/>
            <a:ext cx="1857634" cy="676368"/>
          </a:xfrm>
          <a:prstGeom prst="rect">
            <a:avLst/>
          </a:prstGeom>
        </p:spPr>
      </p:pic>
      <p:pic>
        <p:nvPicPr>
          <p:cNvPr id="11" name="Imagen 10">
            <a:extLst>
              <a:ext uri="{FF2B5EF4-FFF2-40B4-BE49-F238E27FC236}">
                <a16:creationId xmlns:a16="http://schemas.microsoft.com/office/drawing/2014/main" id="{6BB11A61-5C31-5EF8-6C90-A8EB12F69E1F}"/>
              </a:ext>
            </a:extLst>
          </p:cNvPr>
          <p:cNvPicPr>
            <a:picLocks noChangeAspect="1"/>
          </p:cNvPicPr>
          <p:nvPr/>
        </p:nvPicPr>
        <p:blipFill>
          <a:blip r:embed="rId4"/>
          <a:stretch>
            <a:fillRect/>
          </a:stretch>
        </p:blipFill>
        <p:spPr>
          <a:xfrm>
            <a:off x="533400" y="2415942"/>
            <a:ext cx="3525441" cy="2882368"/>
          </a:xfrm>
          <a:prstGeom prst="rect">
            <a:avLst/>
          </a:prstGeom>
        </p:spPr>
      </p:pic>
      <p:pic>
        <p:nvPicPr>
          <p:cNvPr id="13" name="Imagen 12">
            <a:extLst>
              <a:ext uri="{FF2B5EF4-FFF2-40B4-BE49-F238E27FC236}">
                <a16:creationId xmlns:a16="http://schemas.microsoft.com/office/drawing/2014/main" id="{69FA5F94-D5AA-D531-ACF8-F49932FB5D64}"/>
              </a:ext>
            </a:extLst>
          </p:cNvPr>
          <p:cNvPicPr>
            <a:picLocks noChangeAspect="1"/>
          </p:cNvPicPr>
          <p:nvPr/>
        </p:nvPicPr>
        <p:blipFill>
          <a:blip r:embed="rId5"/>
          <a:stretch>
            <a:fillRect/>
          </a:stretch>
        </p:blipFill>
        <p:spPr>
          <a:xfrm>
            <a:off x="4058841" y="2432884"/>
            <a:ext cx="3648888" cy="2882368"/>
          </a:xfrm>
          <a:prstGeom prst="rect">
            <a:avLst/>
          </a:prstGeom>
        </p:spPr>
      </p:pic>
      <p:sp>
        <p:nvSpPr>
          <p:cNvPr id="14" name="CuadroTexto 13">
            <a:extLst>
              <a:ext uri="{FF2B5EF4-FFF2-40B4-BE49-F238E27FC236}">
                <a16:creationId xmlns:a16="http://schemas.microsoft.com/office/drawing/2014/main" id="{F615DD09-E65F-6D50-7DEB-A8FAB5490C6D}"/>
              </a:ext>
            </a:extLst>
          </p:cNvPr>
          <p:cNvSpPr txBox="1"/>
          <p:nvPr/>
        </p:nvSpPr>
        <p:spPr>
          <a:xfrm>
            <a:off x="8077200" y="1974543"/>
            <a:ext cx="3581400" cy="2585323"/>
          </a:xfrm>
          <a:prstGeom prst="rect">
            <a:avLst/>
          </a:prstGeom>
          <a:noFill/>
        </p:spPr>
        <p:txBody>
          <a:bodyPr wrap="square" rtlCol="0">
            <a:spAutoFit/>
          </a:bodyPr>
          <a:lstStyle/>
          <a:p>
            <a:r>
              <a:rPr lang="es-ES" dirty="0"/>
              <a:t>El gráfico de la izquierda muestra la respuesta del MZI si uno de sus brazos es expuesto a agua y el de la derecha si uno de sus brazos se expone al aire. Vemos como hay más variación a la longitud de onda con el aire, esto se debe a una mayor diferencia de índices de refracción.</a:t>
            </a:r>
          </a:p>
        </p:txBody>
      </p:sp>
      <p:sp>
        <p:nvSpPr>
          <p:cNvPr id="15" name="CuadroTexto 14">
            <a:extLst>
              <a:ext uri="{FF2B5EF4-FFF2-40B4-BE49-F238E27FC236}">
                <a16:creationId xmlns:a16="http://schemas.microsoft.com/office/drawing/2014/main" id="{DE307031-24A4-EA27-4773-4929A870931B}"/>
              </a:ext>
            </a:extLst>
          </p:cNvPr>
          <p:cNvSpPr txBox="1"/>
          <p:nvPr/>
        </p:nvSpPr>
        <p:spPr>
          <a:xfrm>
            <a:off x="711781" y="5499843"/>
            <a:ext cx="10768438" cy="923330"/>
          </a:xfrm>
          <a:prstGeom prst="rect">
            <a:avLst/>
          </a:prstGeom>
          <a:noFill/>
        </p:spPr>
        <p:txBody>
          <a:bodyPr wrap="square" rtlCol="0">
            <a:spAutoFit/>
          </a:bodyPr>
          <a:lstStyle/>
          <a:p>
            <a:r>
              <a:rPr lang="es-ES" dirty="0"/>
              <a:t>Esta configuración es muy interesante en el diseño de los sensores de alta precisión, ya que si una partícula de distinto índice al del medio se posa sobre este brazo haría cambiar la función de transferencia del MZI. </a:t>
            </a:r>
          </a:p>
          <a:p>
            <a:endParaRPr lang="es-ES" dirty="0"/>
          </a:p>
        </p:txBody>
      </p:sp>
    </p:spTree>
    <p:extLst>
      <p:ext uri="{BB962C8B-B14F-4D97-AF65-F5344CB8AC3E}">
        <p14:creationId xmlns:p14="http://schemas.microsoft.com/office/powerpoint/2010/main" val="150622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14</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1449</TotalTime>
  <Words>1260</Words>
  <Application>Microsoft Office PowerPoint</Application>
  <PresentationFormat>Panorámica</PresentationFormat>
  <Paragraphs>151</Paragraphs>
  <Slides>14</Slides>
  <Notes>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14</vt:i4>
      </vt:variant>
    </vt:vector>
  </HeadingPairs>
  <TitlesOfParts>
    <vt:vector size="22" baseType="lpstr">
      <vt:lpstr>Aptos</vt:lpstr>
      <vt:lpstr>Arial</vt:lpstr>
      <vt:lpstr>Calibri</vt:lpstr>
      <vt:lpstr>Cambria Math</vt:lpstr>
      <vt:lpstr>Courier New</vt:lpstr>
      <vt:lpstr>Lucida Sans</vt:lpstr>
      <vt:lpstr>Wingdings</vt:lpstr>
      <vt:lpstr>Office Theme</vt:lpstr>
      <vt:lpstr>Presentación de PowerPoint</vt:lpstr>
      <vt:lpstr>Instructions General</vt:lpstr>
      <vt:lpstr>ASSESSMENT #1 – Recap from theory – MZI configurations </vt:lpstr>
      <vt:lpstr>Presentación de PowerPoint</vt:lpstr>
      <vt:lpstr>2. Unbalanced Configuration </vt:lpstr>
      <vt:lpstr>3. γ≠0 and α≠0 , SiN platform</vt:lpstr>
      <vt:lpstr>ASSESSMENT #2 – Recap from theory – Calculation of ΔL  </vt:lpstr>
      <vt:lpstr>ASSESSMENT #3 – SAX implementation  </vt:lpstr>
      <vt:lpstr>3. SAX implementation vs. Mathematical formulation </vt:lpstr>
      <vt:lpstr>3. SAX implementation vs. Mathematical formulation </vt:lpstr>
      <vt:lpstr>Extra assessments </vt:lpstr>
      <vt:lpstr>Assessment 4. Design an MZI for filtering at a specific wavelength. Calculate and adjust the arm lengths to configure the MZI to have a maximum transmission at 1550 nm. </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Marcos Carañana Castillo</cp:lastModifiedBy>
  <cp:revision>36</cp:revision>
  <dcterms:created xsi:type="dcterms:W3CDTF">2025-01-27T02:46:57Z</dcterms:created>
  <dcterms:modified xsi:type="dcterms:W3CDTF">2026-03-23T08:26:39Z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